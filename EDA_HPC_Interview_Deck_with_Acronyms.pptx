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C41DF-F41E-41B6-945C-5EA206088D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DAF4-75ED-498C-A1B3-F16050A8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0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problem you solve and how you measure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 on HPC: Interview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Workload patterns, performance tuning, and a real-world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Framing and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r>
              <a:rPr sz="2400" dirty="0"/>
              <a:t>Goals</a:t>
            </a:r>
          </a:p>
          <a:p>
            <a:pPr lvl="1"/>
            <a:r>
              <a:rPr sz="2400" dirty="0"/>
              <a:t>Shorten tape-out cycles and reduce re-spins</a:t>
            </a:r>
          </a:p>
          <a:p>
            <a:pPr lvl="1"/>
            <a:r>
              <a:rPr sz="2400" dirty="0"/>
              <a:t>Increase throughput of regressions and sign-off</a:t>
            </a:r>
          </a:p>
          <a:p>
            <a:pPr lvl="1"/>
            <a:r>
              <a:rPr sz="2400" dirty="0"/>
              <a:t>Control license and infrastructure costs</a:t>
            </a:r>
          </a:p>
          <a:p>
            <a:r>
              <a:rPr sz="2400" dirty="0"/>
              <a:t>Primary Constraints</a:t>
            </a:r>
          </a:p>
          <a:p>
            <a:pPr lvl="1"/>
            <a:r>
              <a:rPr sz="2400" dirty="0"/>
              <a:t>License tokens (</a:t>
            </a:r>
            <a:r>
              <a:rPr sz="2400" dirty="0" err="1"/>
              <a:t>FlexLM</a:t>
            </a:r>
            <a:r>
              <a:rPr sz="2400" dirty="0"/>
              <a:t>/RLM) and denial rates</a:t>
            </a:r>
          </a:p>
          <a:p>
            <a:pPr lvl="1"/>
            <a:r>
              <a:rPr sz="2400" dirty="0"/>
              <a:t>I/O hotspots on shared filesystems</a:t>
            </a:r>
          </a:p>
          <a:p>
            <a:pPr lvl="1"/>
            <a:r>
              <a:rPr sz="2400" dirty="0"/>
              <a:t>Long-running solver jobs and queue contention</a:t>
            </a:r>
          </a:p>
          <a:p>
            <a:r>
              <a:rPr sz="2400" dirty="0"/>
              <a:t>Success Metrics</a:t>
            </a:r>
          </a:p>
          <a:p>
            <a:pPr lvl="1"/>
            <a:r>
              <a:rPr sz="2400" dirty="0"/>
              <a:t>Time-to-first-useful-result, nightly regression pass rate</a:t>
            </a:r>
          </a:p>
          <a:p>
            <a:pPr lvl="1"/>
            <a:r>
              <a:rPr sz="2400" dirty="0"/>
              <a:t>Sign-off wall time, queue wait &lt; targets</a:t>
            </a:r>
          </a:p>
          <a:p>
            <a:pPr lvl="1"/>
            <a:r>
              <a:rPr sz="2400" dirty="0"/>
              <a:t>Cost per successful tape-out milestone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Workload Taxonomy (Scale Indicators)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Digital Verification</a:t>
            </a:r>
          </a:p>
          <a:p>
            <a:pPr lvl="1"/>
            <a:r>
              <a:rPr sz="2400" dirty="0"/>
              <a:t>RTL/UVM: 10k–1M tests/night; 1–8 cores/test; high small-file I/O</a:t>
            </a:r>
          </a:p>
          <a:p>
            <a:pPr lvl="1"/>
            <a:r>
              <a:rPr sz="2400" dirty="0"/>
              <a:t>Gate-level + SDF: 4–32 cores; heavy waveforms; 2–24h runtimes</a:t>
            </a:r>
          </a:p>
          <a:p>
            <a:r>
              <a:rPr sz="2400" dirty="0"/>
              <a:t>Physical Implementation</a:t>
            </a:r>
          </a:p>
          <a:p>
            <a:pPr lvl="1"/>
            <a:r>
              <a:rPr sz="2400" dirty="0"/>
              <a:t>Synthesis: CPU-bound; 32–128 cores; 64–512 GB RAM</a:t>
            </a:r>
          </a:p>
          <a:p>
            <a:pPr lvl="1"/>
            <a:r>
              <a:rPr sz="2400" dirty="0"/>
              <a:t>P&amp;R: memory-bound; 64–256 cores; 256 GB–1 TB RAM</a:t>
            </a:r>
          </a:p>
          <a:p>
            <a:r>
              <a:rPr sz="2400" dirty="0"/>
              <a:t>Sign-off &amp; DFM</a:t>
            </a:r>
          </a:p>
          <a:p>
            <a:pPr lvl="1"/>
            <a:r>
              <a:rPr sz="2400" dirty="0"/>
              <a:t>STA (MMMC): thousands of views; embarrassingly parallel</a:t>
            </a:r>
          </a:p>
          <a:p>
            <a:pPr lvl="1"/>
            <a:r>
              <a:rPr sz="2400" dirty="0"/>
              <a:t>DRC/LVS: geometric tiling; 500–5000 cores; TB-scale GDS/OASIS</a:t>
            </a:r>
          </a:p>
          <a:p>
            <a:pPr lvl="1"/>
            <a:r>
              <a:rPr sz="2400" dirty="0"/>
              <a:t>Extraction/IR/EM: solver-heavy; CPU+GPU; long wall times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Parallelization Patterns That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Embarrassingly parallel: regressions, STA views, corner sweeps (job arrays)</a:t>
            </a:r>
          </a:p>
          <a:p>
            <a:r>
              <a:rPr sz="2400" dirty="0"/>
              <a:t>Data partitioning: DRC/OPC/</a:t>
            </a:r>
            <a:r>
              <a:rPr sz="2400" dirty="0" err="1"/>
              <a:t>litho</a:t>
            </a:r>
            <a:r>
              <a:rPr sz="2400" dirty="0"/>
              <a:t>, extraction (tile size vs halo overlap)</a:t>
            </a:r>
          </a:p>
          <a:p>
            <a:r>
              <a:rPr sz="2400" dirty="0"/>
              <a:t>Hierarchical decomposition: block-level STA/P&amp;R; promote deltas only</a:t>
            </a:r>
          </a:p>
          <a:p>
            <a:r>
              <a:rPr sz="2400" dirty="0"/>
              <a:t>MPI/distributed solvers: EM/thermal; needs low-latency fabric and CPU affinity</a:t>
            </a:r>
          </a:p>
          <a:p>
            <a:r>
              <a:rPr sz="2400" dirty="0"/>
              <a:t>Pipeline parallelism: synth → P&amp;R → STA → sign-off with dependencies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HPC Architecture for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Compute</a:t>
            </a:r>
          </a:p>
          <a:p>
            <a:pPr lvl="1"/>
            <a:r>
              <a:rPr sz="2400" dirty="0"/>
              <a:t>CPU nodes: 2×64c with 1–2 TB RAM; GPU nodes for solvers</a:t>
            </a:r>
          </a:p>
          <a:p>
            <a:pPr lvl="1"/>
            <a:r>
              <a:rPr sz="2400" dirty="0"/>
              <a:t>Per-node </a:t>
            </a:r>
            <a:r>
              <a:rPr sz="2400" dirty="0" err="1"/>
              <a:t>NVMe</a:t>
            </a:r>
            <a:r>
              <a:rPr sz="2400" dirty="0"/>
              <a:t> scratch for hot artifacts</a:t>
            </a:r>
          </a:p>
          <a:p>
            <a:r>
              <a:rPr sz="2400" dirty="0"/>
              <a:t>Scheduler</a:t>
            </a:r>
          </a:p>
          <a:p>
            <a:pPr lvl="1"/>
            <a:r>
              <a:rPr sz="2400" dirty="0"/>
              <a:t>LSF/</a:t>
            </a:r>
            <a:r>
              <a:rPr sz="2400" dirty="0" err="1"/>
              <a:t>Slurm</a:t>
            </a:r>
            <a:r>
              <a:rPr sz="2400" dirty="0"/>
              <a:t>/PBS with license-aware wrappers</a:t>
            </a:r>
          </a:p>
          <a:p>
            <a:pPr lvl="1"/>
            <a:r>
              <a:rPr sz="2400" dirty="0"/>
              <a:t>Job arrays, dependencies, quotas, and fair-share</a:t>
            </a:r>
          </a:p>
          <a:p>
            <a:r>
              <a:rPr sz="2400" dirty="0"/>
              <a:t>Storage</a:t>
            </a:r>
          </a:p>
          <a:p>
            <a:pPr lvl="1"/>
            <a:r>
              <a:rPr sz="2400" dirty="0" err="1"/>
              <a:t>Lustre</a:t>
            </a:r>
            <a:r>
              <a:rPr sz="2400" dirty="0"/>
              <a:t>/GPFS/</a:t>
            </a:r>
            <a:r>
              <a:rPr sz="2400" dirty="0" err="1"/>
              <a:t>BeeGFS</a:t>
            </a:r>
            <a:r>
              <a:rPr sz="2400" dirty="0"/>
              <a:t> for shared design DBs</a:t>
            </a:r>
          </a:p>
          <a:p>
            <a:pPr lvl="1"/>
            <a:r>
              <a:rPr sz="2400" dirty="0"/>
              <a:t>Read-only caches for PDKs and </a:t>
            </a:r>
            <a:r>
              <a:rPr sz="2400" dirty="0" err="1"/>
              <a:t>techfiles</a:t>
            </a:r>
            <a:endParaRPr sz="2400" dirty="0"/>
          </a:p>
          <a:p>
            <a:r>
              <a:rPr sz="2400" dirty="0"/>
              <a:t>Network</a:t>
            </a:r>
          </a:p>
          <a:p>
            <a:pPr lvl="1"/>
            <a:r>
              <a:rPr sz="2400" dirty="0"/>
              <a:t>InfiniBand HDR/NDR or tuned RoCEv2</a:t>
            </a:r>
          </a:p>
          <a:p>
            <a:pPr lvl="1"/>
            <a:r>
              <a:rPr sz="2400" dirty="0"/>
              <a:t>&lt;2 µs latency target for distributed solvers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and I/O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Parallel Filesystems</a:t>
            </a:r>
          </a:p>
          <a:p>
            <a:pPr lvl="1"/>
            <a:r>
              <a:rPr sz="2400" dirty="0"/>
              <a:t>Stripe large read-mostly files (count 8–32, size 1–8 MB)</a:t>
            </a:r>
          </a:p>
          <a:p>
            <a:pPr lvl="1"/>
            <a:r>
              <a:rPr sz="2400" dirty="0"/>
              <a:t>Separate metadata and data paths; avoid metadata storms</a:t>
            </a:r>
          </a:p>
          <a:p>
            <a:r>
              <a:rPr sz="2400" dirty="0"/>
              <a:t>Per-Node Scratch</a:t>
            </a:r>
          </a:p>
          <a:p>
            <a:pPr lvl="1"/>
            <a:r>
              <a:rPr sz="2400" dirty="0"/>
              <a:t>Use local </a:t>
            </a:r>
            <a:r>
              <a:rPr sz="2400" dirty="0" err="1"/>
              <a:t>NVMe</a:t>
            </a:r>
            <a:r>
              <a:rPr sz="2400" dirty="0"/>
              <a:t>; checkpoint and copy back at milestones</a:t>
            </a:r>
          </a:p>
          <a:p>
            <a:pPr lvl="1"/>
            <a:r>
              <a:rPr sz="2400" dirty="0"/>
              <a:t>Compress/prune waveforms; set retention windows</a:t>
            </a:r>
          </a:p>
          <a:p>
            <a:r>
              <a:rPr sz="2400" dirty="0"/>
              <a:t>Small-File Problem</a:t>
            </a:r>
          </a:p>
          <a:p>
            <a:pPr lvl="1"/>
            <a:r>
              <a:rPr sz="2400" dirty="0"/>
              <a:t>Bundle tiny artifacts (tar/SQLite/LMDB) to reduce </a:t>
            </a:r>
            <a:r>
              <a:rPr sz="2400" dirty="0" err="1"/>
              <a:t>inode</a:t>
            </a:r>
            <a:r>
              <a:rPr sz="2400" dirty="0"/>
              <a:t> pressure</a:t>
            </a:r>
          </a:p>
          <a:p>
            <a:pPr lvl="1"/>
            <a:r>
              <a:rPr sz="2400" dirty="0"/>
              <a:t>Prefer append-only logs; chunk artifacts for prefetchers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and Host-Stack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InfiniBand or tuned RoCEv2; enable ECN/PFC only where needed</a:t>
            </a:r>
          </a:p>
          <a:p>
            <a:r>
              <a:rPr sz="2400" dirty="0"/>
              <a:t>NUMA and CPU pinning; isolate NIC IRQs; housekeeping cores</a:t>
            </a:r>
          </a:p>
          <a:p>
            <a:r>
              <a:rPr sz="2400" dirty="0"/>
              <a:t>TCP </a:t>
            </a:r>
            <a:r>
              <a:rPr sz="2400" dirty="0" err="1"/>
              <a:t>rmem</a:t>
            </a:r>
            <a:r>
              <a:rPr sz="2400" dirty="0"/>
              <a:t>/</a:t>
            </a:r>
            <a:r>
              <a:rPr sz="2400" dirty="0" err="1"/>
              <a:t>wmem</a:t>
            </a:r>
            <a:r>
              <a:rPr sz="2400" dirty="0"/>
              <a:t> autotuning; avoid </a:t>
            </a:r>
            <a:r>
              <a:rPr sz="2400" dirty="0" err="1"/>
              <a:t>bufferbloat</a:t>
            </a:r>
            <a:r>
              <a:rPr sz="2400" dirty="0"/>
              <a:t> on shared links</a:t>
            </a:r>
          </a:p>
          <a:p>
            <a:r>
              <a:rPr sz="2400" dirty="0"/>
              <a:t>GPU-direct RDMA: validate drivers/firmware and IOMMU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License Engineering + Scheduler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Licenses</a:t>
            </a:r>
          </a:p>
          <a:p>
            <a:pPr lvl="1"/>
            <a:r>
              <a:rPr sz="2400" dirty="0"/>
              <a:t>HA </a:t>
            </a:r>
            <a:r>
              <a:rPr sz="2400" dirty="0" err="1"/>
              <a:t>FlexLM</a:t>
            </a:r>
            <a:r>
              <a:rPr sz="2400" dirty="0"/>
              <a:t>/RLM; monitor token pools and denials</a:t>
            </a:r>
          </a:p>
          <a:p>
            <a:pPr lvl="1"/>
            <a:r>
              <a:rPr sz="2400" dirty="0"/>
              <a:t>License-aware submission; exponential backoff on checkout</a:t>
            </a:r>
          </a:p>
          <a:p>
            <a:r>
              <a:rPr sz="2400" dirty="0"/>
              <a:t>Policies</a:t>
            </a:r>
          </a:p>
          <a:p>
            <a:pPr lvl="1"/>
            <a:r>
              <a:rPr sz="2400" dirty="0"/>
              <a:t>Queues: debug, normal, tape-out priority, long-running solvers</a:t>
            </a:r>
          </a:p>
          <a:p>
            <a:pPr lvl="1"/>
            <a:r>
              <a:rPr sz="2400" dirty="0"/>
              <a:t>Backfill, reservations, and per-user concurrency caps</a:t>
            </a:r>
          </a:p>
          <a:p>
            <a:r>
              <a:rPr sz="2400" dirty="0"/>
              <a:t>Utilization</a:t>
            </a:r>
          </a:p>
          <a:p>
            <a:pPr lvl="1"/>
            <a:r>
              <a:rPr sz="2400" dirty="0"/>
              <a:t>Bin-pack jobs with complementary feature bundles</a:t>
            </a:r>
          </a:p>
          <a:p>
            <a:pPr lvl="1"/>
            <a:r>
              <a:rPr sz="2400" dirty="0"/>
              <a:t>Fair-share, borrow windows, and preemption for tape-out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Burst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Data gravity: keep compute near PFS (</a:t>
            </a:r>
            <a:r>
              <a:rPr sz="2400" dirty="0" err="1"/>
              <a:t>FSx</a:t>
            </a:r>
            <a:r>
              <a:rPr sz="2400" dirty="0"/>
              <a:t> </a:t>
            </a:r>
            <a:r>
              <a:rPr sz="2400" dirty="0" err="1"/>
              <a:t>Lustre</a:t>
            </a:r>
            <a:r>
              <a:rPr sz="2400" dirty="0"/>
              <a:t>, ANF, OCI File Storage)</a:t>
            </a:r>
          </a:p>
          <a:p>
            <a:r>
              <a:rPr sz="2400" dirty="0"/>
              <a:t>Cache warm-up: stage PDKs/libs/golden DBs to read-only caches/images</a:t>
            </a:r>
          </a:p>
          <a:p>
            <a:r>
              <a:rPr sz="2400" dirty="0"/>
              <a:t>Spot/preemptible: enable checkpointing; mix on-demand for license-heavy runs</a:t>
            </a:r>
          </a:p>
          <a:p>
            <a:r>
              <a:rPr sz="2400" dirty="0"/>
              <a:t>Hybrid licensing: split entitlements; apply guardrails and budgets</a:t>
            </a:r>
          </a:p>
          <a:p>
            <a:r>
              <a:rPr sz="2400" dirty="0"/>
              <a:t>Cost controls: idle shutdown, per-flow budgets, artifact TTL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and SLOs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What to Track</a:t>
            </a:r>
          </a:p>
          <a:p>
            <a:pPr lvl="1"/>
            <a:r>
              <a:rPr sz="2400" dirty="0"/>
              <a:t>Per-job CPU, RAM, I/O, license wait; queue times and denials</a:t>
            </a:r>
          </a:p>
          <a:p>
            <a:pPr lvl="1"/>
            <a:r>
              <a:rPr sz="2400" dirty="0"/>
              <a:t>Metadata ops/sec, OSS/OST utilization, top talkers</a:t>
            </a:r>
          </a:p>
          <a:p>
            <a:r>
              <a:rPr sz="2400" dirty="0"/>
              <a:t>Dashboards &amp; Alerts</a:t>
            </a:r>
          </a:p>
          <a:p>
            <a:pPr lvl="1"/>
            <a:r>
              <a:rPr sz="2400" dirty="0"/>
              <a:t>Grafana views for hot spots and denials</a:t>
            </a:r>
          </a:p>
          <a:p>
            <a:pPr lvl="1"/>
            <a:r>
              <a:rPr sz="2400" dirty="0"/>
              <a:t>Auto-triage: I/O saturation vs CPU starvation suggestions</a:t>
            </a:r>
          </a:p>
          <a:p>
            <a:r>
              <a:rPr sz="2400" dirty="0"/>
              <a:t>SLO Examples</a:t>
            </a:r>
          </a:p>
          <a:p>
            <a:pPr lvl="1"/>
            <a:r>
              <a:rPr sz="2400" dirty="0"/>
              <a:t>Queue wait &lt; 15 min for debug; &lt; 60 min for sign-off</a:t>
            </a:r>
          </a:p>
          <a:p>
            <a:pPr lvl="1"/>
            <a:r>
              <a:rPr sz="2400" dirty="0"/>
              <a:t>Nightly regression completion &gt; 95%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5 nm SoC Sign-off Acceleration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Context</a:t>
            </a:r>
          </a:p>
          <a:p>
            <a:pPr lvl="1"/>
            <a:r>
              <a:rPr sz="2400" dirty="0"/>
              <a:t>80M-instance SoC; flat top-level DRC/LVS; MMMC STA</a:t>
            </a:r>
          </a:p>
          <a:p>
            <a:pPr lvl="1"/>
            <a:r>
              <a:rPr sz="2400" dirty="0"/>
              <a:t>Hybrid on-prem + cloud cluster</a:t>
            </a:r>
          </a:p>
          <a:p>
            <a:r>
              <a:rPr sz="2400" dirty="0"/>
              <a:t>Interventions</a:t>
            </a:r>
          </a:p>
          <a:p>
            <a:pPr lvl="1"/>
            <a:r>
              <a:rPr sz="2400" dirty="0"/>
              <a:t>DRC tiling with 10% halo; tuned tile size to &gt;85% CPU</a:t>
            </a:r>
          </a:p>
          <a:p>
            <a:pPr lvl="1"/>
            <a:r>
              <a:rPr sz="2400" dirty="0"/>
              <a:t>Waveforms on </a:t>
            </a:r>
            <a:r>
              <a:rPr sz="2400" dirty="0" err="1"/>
              <a:t>NVMe</a:t>
            </a:r>
            <a:r>
              <a:rPr sz="2400" dirty="0"/>
              <a:t>; 72h retention; compressed</a:t>
            </a:r>
          </a:p>
          <a:p>
            <a:pPr lvl="1"/>
            <a:r>
              <a:rPr sz="2400" dirty="0" err="1"/>
              <a:t>Lustre</a:t>
            </a:r>
            <a:r>
              <a:rPr sz="2400" dirty="0"/>
              <a:t> </a:t>
            </a:r>
            <a:r>
              <a:rPr sz="2400" dirty="0" err="1"/>
              <a:t>stripe_count</a:t>
            </a:r>
            <a:r>
              <a:rPr sz="2400" dirty="0"/>
              <a:t> 8→24; </a:t>
            </a:r>
            <a:r>
              <a:rPr sz="2400" dirty="0" err="1"/>
              <a:t>stripe_size</a:t>
            </a:r>
            <a:r>
              <a:rPr sz="2400" dirty="0"/>
              <a:t> 4 MB</a:t>
            </a:r>
          </a:p>
          <a:p>
            <a:pPr lvl="1"/>
            <a:r>
              <a:rPr sz="2400" dirty="0"/>
              <a:t>License-aware wrappers reduced checkout retries 60%</a:t>
            </a:r>
          </a:p>
          <a:p>
            <a:r>
              <a:rPr sz="2400" dirty="0"/>
              <a:t>Outcome</a:t>
            </a:r>
          </a:p>
          <a:p>
            <a:pPr lvl="1"/>
            <a:r>
              <a:rPr sz="2400" dirty="0"/>
              <a:t>Sign-off wall time down 37%</a:t>
            </a:r>
          </a:p>
          <a:p>
            <a:pPr lvl="1"/>
            <a:r>
              <a:rPr sz="2400" dirty="0"/>
              <a:t>Storage hotspots down 45%</a:t>
            </a:r>
          </a:p>
          <a:p>
            <a:pPr lvl="1"/>
            <a:r>
              <a:rPr sz="2400" dirty="0"/>
              <a:t>Stable license server 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Checklist +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License-aware submission wrappers in place</a:t>
            </a:r>
          </a:p>
          <a:p>
            <a:r>
              <a:rPr sz="2400" dirty="0"/>
              <a:t>Per-node </a:t>
            </a:r>
            <a:r>
              <a:rPr sz="2400" dirty="0" err="1"/>
              <a:t>NVMe</a:t>
            </a:r>
            <a:r>
              <a:rPr sz="2400" dirty="0"/>
              <a:t> scratch and periodic checkpoints</a:t>
            </a:r>
          </a:p>
          <a:p>
            <a:r>
              <a:rPr sz="2400" dirty="0"/>
              <a:t>PFS striping profiles by file class; cache PDKs/</a:t>
            </a:r>
            <a:r>
              <a:rPr sz="2400" dirty="0" err="1"/>
              <a:t>techfiles</a:t>
            </a:r>
            <a:endParaRPr sz="2400" dirty="0"/>
          </a:p>
          <a:p>
            <a:r>
              <a:rPr sz="2400" dirty="0"/>
              <a:t>Backfill + tape-out priority queues with reservations</a:t>
            </a:r>
          </a:p>
          <a:p>
            <a:r>
              <a:rPr sz="2400" dirty="0"/>
              <a:t>Dashboards for denials and metadata ops</a:t>
            </a:r>
          </a:p>
          <a:p>
            <a:r>
              <a:rPr sz="2400" dirty="0"/>
              <a:t>Cloud burst playbook with staging and budgets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962" y="1"/>
            <a:ext cx="8229600" cy="528638"/>
          </a:xfrm>
        </p:spPr>
        <p:txBody>
          <a:bodyPr>
            <a:normAutofit fontScale="90000"/>
          </a:bodyPr>
          <a:lstStyle/>
          <a:p>
            <a:r>
              <a:rPr dirty="0"/>
              <a:t>Acronyms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969562"/>
              </p:ext>
            </p:extLst>
          </p:nvPr>
        </p:nvGraphicFramePr>
        <p:xfrm>
          <a:off x="85725" y="528638"/>
          <a:ext cx="11987213" cy="6543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3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3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604">
                <a:tc>
                  <a:txBody>
                    <a:bodyPr/>
                    <a:lstStyle/>
                    <a:p>
                      <a:r>
                        <a:rPr sz="1300" b="1"/>
                        <a:t>Acronym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Electronic Design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High-Performance Computing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SoC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System on Chip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RTL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Register Transfer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 dirty="0"/>
                        <a:t>UVM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Universal Verification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Static Timing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P&amp;R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Place and Route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DRC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Design Rule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LVS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Layout Versus Schematic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PDK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Process Design 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GDSII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Graphic Data System II (layout format)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OASIS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Open Artwork System Interchange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MMMC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Multi-Mode Multi-Corner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SDF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Standard Delay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Voltage drop on power network (IR drop)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Electromigration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SPICE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Simulation Program with Integrated Circuit Emphasis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FastSPICE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Accelerated SPICE-class simulator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3DIC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Three-Dimensional Integrated Circuit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11604">
                <a:tc>
                  <a:txBody>
                    <a:bodyPr/>
                    <a:lstStyle/>
                    <a:p>
                      <a:r>
                        <a:rPr sz="1300"/>
                        <a:t>TSV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Through-Silicon Via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7" y="0"/>
            <a:ext cx="8229600" cy="1143000"/>
          </a:xfrm>
        </p:spPr>
        <p:txBody>
          <a:bodyPr/>
          <a:lstStyle/>
          <a:p>
            <a:r>
              <a:rPr dirty="0"/>
              <a:t>Acronyms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221303"/>
              </p:ext>
            </p:extLst>
          </p:nvPr>
        </p:nvGraphicFramePr>
        <p:xfrm>
          <a:off x="472440" y="1066800"/>
          <a:ext cx="11247120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694">
                <a:tc>
                  <a:txBody>
                    <a:bodyPr/>
                    <a:lstStyle/>
                    <a:p>
                      <a:r>
                        <a:rPr sz="1400" b="1"/>
                        <a:t>Acronym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InfiniBand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RoCEv2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RDMA over Converged Ethernet v2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RDMA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Remote Direct Memory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MPI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Message Passing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NUMA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Non-Uniform Memory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IRQ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Interrupt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PFS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Parallel File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Non-Volatile Memory Express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Lustre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Lustre Parallel File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GPFS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IBM General Parallel File System (Spectrum Scale)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 dirty="0" err="1"/>
                        <a:t>BeeGFS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BeeGFS Parallel File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LSF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Platform Load Sharing Facility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Slurm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Simple Linux Utility for Resource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PBS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Portable Batch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FlexLM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Flexible License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RLM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Reprise License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r>
                        <a:rPr sz="1400"/>
                        <a:t>SLO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Service Level Objective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sz="1400"/>
                        <a:t>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Service Level Agreement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1002</Words>
  <Application>Microsoft Office PowerPoint</Application>
  <PresentationFormat>Widescreen</PresentationFormat>
  <Paragraphs>189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EDA on HPC: Interview Briefing</vt:lpstr>
      <vt:lpstr>Problem Framing and Goals</vt:lpstr>
      <vt:lpstr>EDA Workload Taxonomy (Scale Indicators)</vt:lpstr>
      <vt:lpstr>Parallelization Patterns That Work</vt:lpstr>
      <vt:lpstr>Reference HPC Architecture for EDA</vt:lpstr>
      <vt:lpstr>Storage and I/O Engineering</vt:lpstr>
      <vt:lpstr>Network and Host-Stack Tuning</vt:lpstr>
      <vt:lpstr>License Engineering + Scheduler Policies</vt:lpstr>
      <vt:lpstr>Cloud Burst Playbook</vt:lpstr>
      <vt:lpstr>Observability and SLOs</vt:lpstr>
      <vt:lpstr>Case Study: 5 nm SoC Sign-off Acceleration</vt:lpstr>
      <vt:lpstr>Readiness Checklist + Q&amp;A</vt:lpstr>
      <vt:lpstr>Acronyms</vt:lpstr>
      <vt:lpstr>Acronyms (continued)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on HPC: Interview Briefing</dc:title>
  <dc:subject/>
  <dc:creator/>
  <cp:keywords/>
  <dc:description>generated using python-pptx</dc:description>
  <cp:lastModifiedBy>rajesh narayanan</cp:lastModifiedBy>
  <cp:revision>4</cp:revision>
  <dcterms:created xsi:type="dcterms:W3CDTF">2013-01-27T09:14:16Z</dcterms:created>
  <dcterms:modified xsi:type="dcterms:W3CDTF">2025-10-07T20:29:49Z</dcterms:modified>
  <cp:category/>
</cp:coreProperties>
</file>