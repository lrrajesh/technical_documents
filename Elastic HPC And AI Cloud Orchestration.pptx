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56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F926B5-C68E-4634-8F94-BB27D6825571}" v="3" dt="2025-10-26T19:08:55.4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033DAF-8DFE-4E83-B969-5DF838516006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6906F-73B4-4531-AC7A-CBE9D4760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35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0582E-6634-257F-E220-B9D9B95E4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CC3EA1-3F04-83E4-F607-0BD1C8EA8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E40D8-576E-B35E-B6D4-E6EA2C30B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326E-3E8F-49C2-9346-F136A82DDB5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C862D-476B-615C-EF9A-B12CB34D1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58EBA-C909-A3C1-7EAC-AE225E6BD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4EC33-382E-4964-A527-918CA7C62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898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1D282-8B56-B008-C861-1161D1F82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3A95C-688F-0B05-4AF7-ADBC3BFEC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4409C-FA98-B44A-47C9-E6F0E266F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326E-3E8F-49C2-9346-F136A82DDB5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71C00-36E1-FF8F-0D17-42C4D8F1C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064CC-7893-739F-3998-7FEE609DA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4EC33-382E-4964-A527-918CA7C62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530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65003-79F4-0B40-D6B7-948A8EF86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37F7F-8756-F7AC-1C7D-A16EE28A9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805C-E709-A2B7-9FCA-FE2190F18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326E-3E8F-49C2-9346-F136A82DDB5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0E617-7CF2-8F1D-59BB-4768E1F9F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B5080-1FE7-A9D7-B317-DF98B2A90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4EC33-382E-4964-A527-918CA7C62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823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EE922-4B65-0D2B-379E-74E273E77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16318-A829-5AA3-AF6E-46C8612607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4D1647-570D-78B1-8CBF-B09F7246F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3E9C6-56F4-661E-28ED-5EBCD87A4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326E-3E8F-49C2-9346-F136A82DDB5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5B1F0-C465-862D-AE53-BA135D87F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EFCA8-CAE9-EC70-FFA1-E8B3BA472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4EC33-382E-4964-A527-918CA7C62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982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3AE71-936E-906A-E7FA-C1CC59374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73E4E-8DAC-632F-86D4-362F1E988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CC081B-481B-1D13-3EAB-6F7417A9B7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170A34-596E-0A25-E45F-F87AFAAFD8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DC67B6-78A0-07F5-9430-08FE542B5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4B26FF-C608-52B3-8B11-9DF1860D5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326E-3E8F-49C2-9346-F136A82DDB5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87B4C4-14B5-D4E3-144F-A3572441A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FA47F4-C9A9-B262-91D9-31C2B9AE3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4EC33-382E-4964-A527-918CA7C62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77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700EA-FC72-585C-5CB2-A63C99548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2388E2-D581-5FA3-293A-3004C0A2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326E-3E8F-49C2-9346-F136A82DDB5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0D069D-D91F-5940-84F4-DB3B31EDD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DA7301-61A9-9226-FF8D-B45ADD2E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4EC33-382E-4964-A527-918CA7C62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42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2D7A82-3DEF-D916-2792-2E8B7477B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326E-3E8F-49C2-9346-F136A82DDB5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6C1618-DF7B-ABBA-9831-9A08F9725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BE12A-EE0F-3CAC-7583-704B25268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4EC33-382E-4964-A527-918CA7C62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281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AD670-93FF-376F-43F4-A9F9C61EA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FEAB3-8CBE-45E7-F1DA-B520A1087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A20FAD-66A9-64C4-008C-5A2F956E6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D04DE-A61E-00A2-9523-842BA5A6B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326E-3E8F-49C2-9346-F136A82DDB5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F5D8C4-C272-7F85-BC6C-6D380E7CE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5C3B0-37E0-0043-76BB-202F25A15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4EC33-382E-4964-A527-918CA7C62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5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E82FF-F3B5-DE89-2C63-55B3FCDF9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F6B333-B7AD-40B6-6A65-7ABA825F3E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4E0761-250F-3EDA-028D-B16B5894A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48FF4-A933-D538-F2D5-1617850F3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326E-3E8F-49C2-9346-F136A82DDB5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787EC-C471-0F70-A78A-99F005D40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5B850-A69B-37CD-2482-81937A30F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4EC33-382E-4964-A527-918CA7C62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22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04DC6-14B9-2D90-B030-2964A90C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6D940-BB3C-0086-B815-ECEFAA275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5D86D-B9ED-C5BF-6482-2B7D34D49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326E-3E8F-49C2-9346-F136A82DDB5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BCC2C-5301-CFB4-C93D-36B483144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21A51-D86E-1068-B5B5-421E4494E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4EC33-382E-4964-A527-918CA7C62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58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A55EC5-A15C-CCEC-CFD6-A2E97A6AA2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CFBE34-38FE-B161-5DB1-467BCF23C6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08A70-79B1-B4B9-420F-C38E1CB55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326E-3E8F-49C2-9346-F136A82DDB5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69596-5A66-BE09-2A63-5310363BC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FAAB5-3913-6C37-04A2-FF0423347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4EC33-382E-4964-A527-918CA7C62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106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7457990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10834491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3004502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39747487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21477197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15270645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39635028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1381333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20410069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3322934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712291-8914-5387-20F2-555843F46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C8D73-CECF-405B-0242-0FE72D3A0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78D20-108C-0609-6BB9-BC5AD5B808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F5326E-3E8F-49C2-9346-F136A82DDB5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53F27-BFD9-3A3C-25E8-E6FD5B9C0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160C2-3DE4-A0C7-51C3-EC75F33AF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4EC33-382E-4964-A527-918CA7C62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074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edin.com/in/rajesh-n-268ba4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lurm.schedmd.com/SLUG24/Slinky-Slurm-Operator.pdf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24" y="2644676"/>
            <a:ext cx="10928152" cy="1568549"/>
          </a:xfrm>
          <a:prstGeom prst="roundRect">
            <a:avLst>
              <a:gd name="adj" fmla="val 5830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 sz="1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74" y="2644676"/>
            <a:ext cx="76200" cy="15685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6081" y="2821682"/>
            <a:ext cx="7100293" cy="519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83"/>
              </a:lnSpc>
            </a:pPr>
            <a:r>
              <a:rPr lang="en-US" sz="325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Elastic HPC and AI Cloud Orchestration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866081" y="3436044"/>
            <a:ext cx="10516989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208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Bridging Traditional HPC Workflows with Cloud-Native Kubernetes Infrastructure</a:t>
            </a:r>
            <a:endParaRPr lang="en-US" sz="1208" dirty="0"/>
          </a:p>
        </p:txBody>
      </p:sp>
      <p:sp>
        <p:nvSpPr>
          <p:cNvPr id="6" name="Text 3"/>
          <p:cNvSpPr/>
          <p:nvPr/>
        </p:nvSpPr>
        <p:spPr>
          <a:xfrm>
            <a:off x="866081" y="3783508"/>
            <a:ext cx="10516989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208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Rajesh Narayanan</a:t>
            </a:r>
            <a:r>
              <a:rPr lang="en-US" sz="1208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| Portland, OR | Engineering Leader in AI &amp; HPC Infrastructure</a:t>
            </a:r>
            <a:endParaRPr lang="en-US" sz="120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25" y="459582"/>
            <a:ext cx="4269184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75"/>
              </a:lnSpc>
            </a:pPr>
            <a:r>
              <a:rPr lang="en-US" sz="3083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About Rajesh Narayanan</a:t>
            </a:r>
            <a:endParaRPr lang="en-US" sz="3083" dirty="0"/>
          </a:p>
        </p:txBody>
      </p:sp>
      <p:sp>
        <p:nvSpPr>
          <p:cNvPr id="3" name="Text 1"/>
          <p:cNvSpPr/>
          <p:nvPr/>
        </p:nvSpPr>
        <p:spPr>
          <a:xfrm>
            <a:off x="631925" y="1313359"/>
            <a:ext cx="5845671" cy="9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Rajesh Narayanan</a:t>
            </a: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(Portland, OR): An engineering leader with 25+ years of experience across Cloud, HPC, AI Infrastructure, and Semiconductor Systems. Formerly an Engineering Manager at Intel, he specialized in scalable design and technical leadership for AI &amp; HPC workloads.</a:t>
            </a:r>
            <a:endParaRPr lang="en-US" sz="1167" dirty="0"/>
          </a:p>
        </p:txBody>
      </p:sp>
      <p:sp>
        <p:nvSpPr>
          <p:cNvPr id="4" name="Text 2"/>
          <p:cNvSpPr/>
          <p:nvPr/>
        </p:nvSpPr>
        <p:spPr>
          <a:xfrm>
            <a:off x="631925" y="2408833"/>
            <a:ext cx="5845671" cy="480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Led the delivery of the </a:t>
            </a:r>
            <a:r>
              <a:rPr lang="en-US" sz="1167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Aurora Supercomputer</a:t>
            </a: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at Argonne National Laboratory and the </a:t>
            </a:r>
            <a:r>
              <a:rPr lang="en-US" sz="1167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Intel Tiber AI Developer Cloud</a:t>
            </a: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.</a:t>
            </a:r>
            <a:endParaRPr lang="en-US" sz="1167" dirty="0"/>
          </a:p>
        </p:txBody>
      </p:sp>
      <p:sp>
        <p:nvSpPr>
          <p:cNvPr id="5" name="Text 3"/>
          <p:cNvSpPr/>
          <p:nvPr/>
        </p:nvSpPr>
        <p:spPr>
          <a:xfrm>
            <a:off x="631925" y="3039070"/>
            <a:ext cx="1974751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42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Connect</a:t>
            </a:r>
            <a:endParaRPr lang="en-US" sz="1542" dirty="0"/>
          </a:p>
        </p:txBody>
      </p:sp>
      <p:sp>
        <p:nvSpPr>
          <p:cNvPr id="6" name="Text 4"/>
          <p:cNvSpPr/>
          <p:nvPr/>
        </p:nvSpPr>
        <p:spPr>
          <a:xfrm>
            <a:off x="631925" y="3435846"/>
            <a:ext cx="5845671" cy="240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u="sng" dirty="0">
                <a:solidFill>
                  <a:srgbClr val="359DDF"/>
                </a:solidFill>
                <a:ea typeface="Montserrat" pitchFamily="34" charset="-122"/>
                <a:cs typeface="Montserrat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linkedin.com/in/rajesh-n-268ba4</a:t>
            </a:r>
            <a:endParaRPr lang="en-US" sz="1167" dirty="0"/>
          </a:p>
        </p:txBody>
      </p:sp>
      <p:sp>
        <p:nvSpPr>
          <p:cNvPr id="7" name="Text 5"/>
          <p:cNvSpPr/>
          <p:nvPr/>
        </p:nvSpPr>
        <p:spPr>
          <a:xfrm>
            <a:off x="6850063" y="1328341"/>
            <a:ext cx="1974751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42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Key Expertise</a:t>
            </a:r>
            <a:endParaRPr lang="en-US" sz="1542" dirty="0"/>
          </a:p>
        </p:txBody>
      </p:sp>
      <p:sp>
        <p:nvSpPr>
          <p:cNvPr id="8" name="Text 6"/>
          <p:cNvSpPr/>
          <p:nvPr/>
        </p:nvSpPr>
        <p:spPr>
          <a:xfrm>
            <a:off x="6850063" y="1725117"/>
            <a:ext cx="4716264" cy="240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875"/>
              </a:lnSpc>
              <a:buSzPct val="100000"/>
              <a:buChar char="•"/>
            </a:pP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Kubernetes orchestration</a:t>
            </a:r>
            <a:endParaRPr lang="en-US" sz="1167" dirty="0"/>
          </a:p>
        </p:txBody>
      </p:sp>
      <p:sp>
        <p:nvSpPr>
          <p:cNvPr id="9" name="Text 7"/>
          <p:cNvSpPr/>
          <p:nvPr/>
        </p:nvSpPr>
        <p:spPr>
          <a:xfrm>
            <a:off x="6850063" y="2017713"/>
            <a:ext cx="4716264" cy="240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875"/>
              </a:lnSpc>
              <a:buSzPct val="100000"/>
              <a:buChar char="•"/>
            </a:pP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Ansible automation</a:t>
            </a:r>
            <a:endParaRPr lang="en-US" sz="1167" dirty="0"/>
          </a:p>
        </p:txBody>
      </p:sp>
      <p:sp>
        <p:nvSpPr>
          <p:cNvPr id="10" name="Text 8"/>
          <p:cNvSpPr/>
          <p:nvPr/>
        </p:nvSpPr>
        <p:spPr>
          <a:xfrm>
            <a:off x="6850063" y="2310309"/>
            <a:ext cx="4716264" cy="240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875"/>
              </a:lnSpc>
              <a:buSzPct val="100000"/>
              <a:buChar char="•"/>
            </a:pP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Prometheus monitoring</a:t>
            </a:r>
            <a:endParaRPr lang="en-US" sz="1167" dirty="0"/>
          </a:p>
        </p:txBody>
      </p:sp>
      <p:sp>
        <p:nvSpPr>
          <p:cNvPr id="11" name="Text 9"/>
          <p:cNvSpPr/>
          <p:nvPr/>
        </p:nvSpPr>
        <p:spPr>
          <a:xfrm>
            <a:off x="6850063" y="2602906"/>
            <a:ext cx="4716264" cy="240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875"/>
              </a:lnSpc>
              <a:buSzPct val="100000"/>
              <a:buChar char="•"/>
            </a:pP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VoltDB analytics</a:t>
            </a:r>
            <a:endParaRPr lang="en-US" sz="1167" dirty="0"/>
          </a:p>
        </p:txBody>
      </p:sp>
      <p:sp>
        <p:nvSpPr>
          <p:cNvPr id="12" name="Text 10"/>
          <p:cNvSpPr/>
          <p:nvPr/>
        </p:nvSpPr>
        <p:spPr>
          <a:xfrm>
            <a:off x="6850063" y="2895501"/>
            <a:ext cx="4716264" cy="240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875"/>
              </a:lnSpc>
              <a:buSzPct val="100000"/>
              <a:buChar char="•"/>
            </a:pP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Slurm scheduling</a:t>
            </a:r>
            <a:endParaRPr lang="en-US" sz="1167" dirty="0"/>
          </a:p>
        </p:txBody>
      </p:sp>
      <p:sp>
        <p:nvSpPr>
          <p:cNvPr id="13" name="Text 11"/>
          <p:cNvSpPr/>
          <p:nvPr/>
        </p:nvSpPr>
        <p:spPr>
          <a:xfrm>
            <a:off x="6850063" y="3188097"/>
            <a:ext cx="4716264" cy="240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875"/>
              </a:lnSpc>
              <a:buSzPct val="100000"/>
              <a:buChar char="•"/>
            </a:pP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Embedded software development</a:t>
            </a:r>
            <a:endParaRPr lang="en-US" sz="1167" dirty="0"/>
          </a:p>
        </p:txBody>
      </p:sp>
      <p:sp>
        <p:nvSpPr>
          <p:cNvPr id="14" name="Text 12"/>
          <p:cNvSpPr/>
          <p:nvPr/>
        </p:nvSpPr>
        <p:spPr>
          <a:xfrm>
            <a:off x="6850063" y="3480694"/>
            <a:ext cx="4716264" cy="240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875"/>
              </a:lnSpc>
              <a:buSzPct val="100000"/>
              <a:buChar char="•"/>
            </a:pP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Telemetry systems</a:t>
            </a:r>
            <a:endParaRPr lang="en-US" sz="1167" dirty="0"/>
          </a:p>
        </p:txBody>
      </p:sp>
      <p:sp>
        <p:nvSpPr>
          <p:cNvPr id="15" name="Text 13"/>
          <p:cNvSpPr/>
          <p:nvPr/>
        </p:nvSpPr>
        <p:spPr>
          <a:xfrm>
            <a:off x="6850063" y="3870821"/>
            <a:ext cx="1974751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42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Project Highlights</a:t>
            </a:r>
            <a:endParaRPr lang="en-US" sz="1542" dirty="0"/>
          </a:p>
        </p:txBody>
      </p:sp>
      <p:sp>
        <p:nvSpPr>
          <p:cNvPr id="16" name="Text 14"/>
          <p:cNvSpPr/>
          <p:nvPr/>
        </p:nvSpPr>
        <p:spPr>
          <a:xfrm>
            <a:off x="6850063" y="4267597"/>
            <a:ext cx="4716264" cy="480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875"/>
              </a:lnSpc>
              <a:buSzPct val="100000"/>
              <a:buChar char="•"/>
            </a:pPr>
            <a:r>
              <a:rPr lang="en-US" sz="1167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Intel Tiber AI Cloud:</a:t>
            </a: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25K+ user onboardings, hybrid GPU orchestration.</a:t>
            </a:r>
            <a:endParaRPr lang="en-US" sz="1167" dirty="0"/>
          </a:p>
        </p:txBody>
      </p:sp>
      <p:sp>
        <p:nvSpPr>
          <p:cNvPr id="17" name="Text 15"/>
          <p:cNvSpPr/>
          <p:nvPr/>
        </p:nvSpPr>
        <p:spPr>
          <a:xfrm>
            <a:off x="6850063" y="4800303"/>
            <a:ext cx="4716264" cy="480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875"/>
              </a:lnSpc>
              <a:buSzPct val="100000"/>
              <a:buChar char="•"/>
            </a:pPr>
            <a:r>
              <a:rPr lang="en-US" sz="1167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Aurora Supercomputer:</a:t>
            </a: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&gt;1 ExaFLOPS, 10,624 nodes, 21,248 CPUs, 63,744 GPUs.</a:t>
            </a:r>
            <a:endParaRPr lang="en-US" sz="1167" dirty="0"/>
          </a:p>
        </p:txBody>
      </p:sp>
      <p:sp>
        <p:nvSpPr>
          <p:cNvPr id="18" name="Text 16"/>
          <p:cNvSpPr/>
          <p:nvPr/>
        </p:nvSpPr>
        <p:spPr>
          <a:xfrm>
            <a:off x="6850063" y="5333008"/>
            <a:ext cx="4716264" cy="480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875"/>
              </a:lnSpc>
              <a:buSzPct val="100000"/>
              <a:buChar char="•"/>
            </a:pPr>
            <a:r>
              <a:rPr lang="en-US" sz="1167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HPC Infrastructure:</a:t>
            </a: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Kubernetes orchestration, telemetry rollouts.</a:t>
            </a:r>
            <a:endParaRPr lang="en-US" sz="1167" dirty="0"/>
          </a:p>
        </p:txBody>
      </p:sp>
      <p:sp>
        <p:nvSpPr>
          <p:cNvPr id="19" name="Text 17"/>
          <p:cNvSpPr/>
          <p:nvPr/>
        </p:nvSpPr>
        <p:spPr>
          <a:xfrm>
            <a:off x="6850063" y="5865714"/>
            <a:ext cx="4716264" cy="480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875"/>
              </a:lnSpc>
              <a:buSzPct val="100000"/>
              <a:buChar char="•"/>
            </a:pPr>
            <a:r>
              <a:rPr lang="en-US" sz="1167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Telemetry System:</a:t>
            </a: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Prometheus + VoltDB, Rapid MQ, petabyte/year anomaly detection.</a:t>
            </a:r>
            <a:endParaRPr lang="en-US" sz="116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25" y="1683644"/>
            <a:ext cx="7839869" cy="519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83"/>
              </a:lnSpc>
            </a:pPr>
            <a:r>
              <a:rPr lang="en-US" sz="325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The Challenge: Traditional HPC Limitations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31924" y="2519164"/>
            <a:ext cx="3537347" cy="1972072"/>
          </a:xfrm>
          <a:prstGeom prst="roundRect">
            <a:avLst>
              <a:gd name="adj" fmla="val 4637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74" y="2519164"/>
            <a:ext cx="76200" cy="1972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6081" y="2696170"/>
            <a:ext cx="2078633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625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Lack of Elasticity</a:t>
            </a:r>
            <a:endParaRPr lang="en-US" sz="1625" dirty="0"/>
          </a:p>
        </p:txBody>
      </p:sp>
      <p:sp>
        <p:nvSpPr>
          <p:cNvPr id="6" name="Text 3"/>
          <p:cNvSpPr/>
          <p:nvPr/>
        </p:nvSpPr>
        <p:spPr>
          <a:xfrm>
            <a:off x="866081" y="3050680"/>
            <a:ext cx="3126184" cy="1010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208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Traditional HPC clusters had fixed resource allocation, lacking dynamic scalability. Resources idled during low utilization; jobs queued during peak.</a:t>
            </a:r>
            <a:endParaRPr lang="en-US" sz="1208" dirty="0"/>
          </a:p>
        </p:txBody>
      </p:sp>
      <p:sp>
        <p:nvSpPr>
          <p:cNvPr id="7" name="Shape 4"/>
          <p:cNvSpPr/>
          <p:nvPr/>
        </p:nvSpPr>
        <p:spPr>
          <a:xfrm>
            <a:off x="4327228" y="2519164"/>
            <a:ext cx="3537446" cy="1972072"/>
          </a:xfrm>
          <a:prstGeom prst="roundRect">
            <a:avLst>
              <a:gd name="adj" fmla="val 4637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8178" y="2519164"/>
            <a:ext cx="76200" cy="19720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61383" y="2696170"/>
            <a:ext cx="2323902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625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Poor Resource Efficiency</a:t>
            </a:r>
            <a:endParaRPr lang="en-US" sz="1625" dirty="0"/>
          </a:p>
        </p:txBody>
      </p:sp>
      <p:sp>
        <p:nvSpPr>
          <p:cNvPr id="10" name="Text 6"/>
          <p:cNvSpPr/>
          <p:nvPr/>
        </p:nvSpPr>
        <p:spPr>
          <a:xfrm>
            <a:off x="4561384" y="3050680"/>
            <a:ext cx="3126283" cy="1263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208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Static provisioning resulted in over- or underprovisioning, creating bottlenecks. Suboptimal GPU utilization meant expensive hardware was underutilized.</a:t>
            </a:r>
            <a:endParaRPr lang="en-US" sz="1208" dirty="0"/>
          </a:p>
        </p:txBody>
      </p:sp>
      <p:sp>
        <p:nvSpPr>
          <p:cNvPr id="11" name="Shape 7"/>
          <p:cNvSpPr/>
          <p:nvPr/>
        </p:nvSpPr>
        <p:spPr>
          <a:xfrm>
            <a:off x="8022630" y="2519164"/>
            <a:ext cx="3537347" cy="1972072"/>
          </a:xfrm>
          <a:prstGeom prst="roundRect">
            <a:avLst>
              <a:gd name="adj" fmla="val 4637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3580" y="2519164"/>
            <a:ext cx="76200" cy="19720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56786" y="2696170"/>
            <a:ext cx="2078633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625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Integration Gaps</a:t>
            </a:r>
            <a:endParaRPr lang="en-US" sz="1625" dirty="0"/>
          </a:p>
        </p:txBody>
      </p:sp>
      <p:sp>
        <p:nvSpPr>
          <p:cNvPr id="14" name="Text 9"/>
          <p:cNvSpPr/>
          <p:nvPr/>
        </p:nvSpPr>
        <p:spPr>
          <a:xfrm>
            <a:off x="8256786" y="3050680"/>
            <a:ext cx="3126184" cy="1263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208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HPC and AI workloads were siloed, using separate orchestration systems. No unified platform connected traditional batch scheduling with cloud-native container orchestration.</a:t>
            </a:r>
            <a:endParaRPr lang="en-US" sz="1208" dirty="0"/>
          </a:p>
        </p:txBody>
      </p:sp>
      <p:sp>
        <p:nvSpPr>
          <p:cNvPr id="15" name="Text 10"/>
          <p:cNvSpPr/>
          <p:nvPr/>
        </p:nvSpPr>
        <p:spPr>
          <a:xfrm>
            <a:off x="631924" y="4668937"/>
            <a:ext cx="1092815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208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Strategic Goal:</a:t>
            </a:r>
            <a:r>
              <a:rPr lang="en-US" sz="1208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Integrate HPC batch workloads and AI training jobs into a unified, elastic, cloud-native infrastructure that delivers both reliability and performance at scale.</a:t>
            </a:r>
            <a:endParaRPr lang="en-US" sz="120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25" y="529034"/>
            <a:ext cx="6938764" cy="467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67"/>
              </a:lnSpc>
            </a:pPr>
            <a:r>
              <a:rPr lang="en-US" sz="2917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Solution: Elastic Kubernetes Pods for HPC</a:t>
            </a:r>
            <a:endParaRPr lang="en-US" sz="2917" dirty="0"/>
          </a:p>
        </p:txBody>
      </p:sp>
      <p:sp>
        <p:nvSpPr>
          <p:cNvPr id="3" name="Text 1"/>
          <p:cNvSpPr/>
          <p:nvPr/>
        </p:nvSpPr>
        <p:spPr>
          <a:xfrm>
            <a:off x="631924" y="1352055"/>
            <a:ext cx="2244923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75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Architecture Overview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31924" y="1774825"/>
            <a:ext cx="5290642" cy="1364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83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Our solution introduces </a:t>
            </a:r>
            <a:r>
              <a:rPr lang="en-US" sz="1083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Elastic Kubernetes Pods (EKP)</a:t>
            </a:r>
            <a:r>
              <a:rPr lang="en-US" sz="1083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— a hybrid orchestration model that enables Slurm workload manager to dynamically provision Kubernetes pods as compute nodes. Instead of waiting for bare-metal or VM provisioning, Slurm launches containerized compute pods on-demand, executes jobs, and tears down resources automatically.</a:t>
            </a:r>
            <a:endParaRPr lang="en-US" sz="1083" dirty="0"/>
          </a:p>
        </p:txBody>
      </p:sp>
      <p:sp>
        <p:nvSpPr>
          <p:cNvPr id="5" name="Text 3"/>
          <p:cNvSpPr/>
          <p:nvPr/>
        </p:nvSpPr>
        <p:spPr>
          <a:xfrm>
            <a:off x="631924" y="3267174"/>
            <a:ext cx="5290642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83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Key Innovation:</a:t>
            </a:r>
            <a:r>
              <a:rPr lang="en-US" sz="1083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This approach merges HPC-style batch scheduling with elastic, container-based resource management, delivering cloud-native benefits to traditional HPC workflows.</a:t>
            </a:r>
            <a:endParaRPr lang="en-US" sz="1083" dirty="0"/>
          </a:p>
        </p:txBody>
      </p:sp>
      <p:sp>
        <p:nvSpPr>
          <p:cNvPr id="6" name="Text 4"/>
          <p:cNvSpPr/>
          <p:nvPr/>
        </p:nvSpPr>
        <p:spPr>
          <a:xfrm>
            <a:off x="6275785" y="1369815"/>
            <a:ext cx="142181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83" dirty="0">
                <a:solidFill>
                  <a:srgbClr val="384653"/>
                </a:solidFill>
                <a:ea typeface="Barlow Light" pitchFamily="34" charset="-122"/>
                <a:cs typeface="Barlow Light" pitchFamily="34" charset="-120"/>
              </a:rPr>
              <a:t>01</a:t>
            </a:r>
            <a:endParaRPr lang="en-US" sz="1083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784" y="1592362"/>
            <a:ext cx="5290642" cy="19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75784" y="1701503"/>
            <a:ext cx="2878038" cy="233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458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User submits job via Jupyter or CLI</a:t>
            </a:r>
            <a:endParaRPr lang="en-US" sz="1458" dirty="0"/>
          </a:p>
        </p:txBody>
      </p:sp>
      <p:sp>
        <p:nvSpPr>
          <p:cNvPr id="9" name="Text 6"/>
          <p:cNvSpPr/>
          <p:nvPr/>
        </p:nvSpPr>
        <p:spPr>
          <a:xfrm>
            <a:off x="6275785" y="2184103"/>
            <a:ext cx="142181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83" dirty="0">
                <a:solidFill>
                  <a:srgbClr val="384653"/>
                </a:solidFill>
                <a:ea typeface="Barlow Light" pitchFamily="34" charset="-122"/>
                <a:cs typeface="Barlow Light" pitchFamily="34" charset="-120"/>
              </a:rPr>
              <a:t>02</a:t>
            </a:r>
            <a:endParaRPr lang="en-US" sz="1083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784" y="2392462"/>
            <a:ext cx="5290642" cy="190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75784" y="2515791"/>
            <a:ext cx="2779613" cy="233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458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Slurm Controller receives request</a:t>
            </a:r>
            <a:endParaRPr lang="en-US" sz="1458" dirty="0"/>
          </a:p>
        </p:txBody>
      </p:sp>
      <p:sp>
        <p:nvSpPr>
          <p:cNvPr id="12" name="Text 8"/>
          <p:cNvSpPr/>
          <p:nvPr/>
        </p:nvSpPr>
        <p:spPr>
          <a:xfrm>
            <a:off x="6275785" y="2998391"/>
            <a:ext cx="142181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83" dirty="0">
                <a:solidFill>
                  <a:srgbClr val="384653"/>
                </a:solidFill>
                <a:ea typeface="Barlow Light" pitchFamily="34" charset="-122"/>
                <a:cs typeface="Barlow Light" pitchFamily="34" charset="-120"/>
              </a:rPr>
              <a:t>03</a:t>
            </a:r>
            <a:endParaRPr lang="en-US" sz="1083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784" y="3192562"/>
            <a:ext cx="5290642" cy="190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75785" y="3330079"/>
            <a:ext cx="3086894" cy="233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458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Kubernetes provisions compute pods</a:t>
            </a:r>
            <a:endParaRPr lang="en-US" sz="1458" dirty="0"/>
          </a:p>
        </p:txBody>
      </p:sp>
      <p:sp>
        <p:nvSpPr>
          <p:cNvPr id="15" name="Text 10"/>
          <p:cNvSpPr/>
          <p:nvPr/>
        </p:nvSpPr>
        <p:spPr>
          <a:xfrm>
            <a:off x="6275785" y="3812680"/>
            <a:ext cx="142181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83" dirty="0">
                <a:solidFill>
                  <a:srgbClr val="384653"/>
                </a:solidFill>
                <a:ea typeface="Barlow Light" pitchFamily="34" charset="-122"/>
                <a:cs typeface="Barlow Light" pitchFamily="34" charset="-120"/>
              </a:rPr>
              <a:t>04</a:t>
            </a:r>
            <a:endParaRPr lang="en-US" sz="1083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784" y="3992662"/>
            <a:ext cx="5290642" cy="190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75784" y="4144368"/>
            <a:ext cx="2939753" cy="233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458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Pods execute workload with slurmd</a:t>
            </a:r>
            <a:endParaRPr lang="en-US" sz="1458" dirty="0"/>
          </a:p>
        </p:txBody>
      </p:sp>
      <p:sp>
        <p:nvSpPr>
          <p:cNvPr id="18" name="Text 12"/>
          <p:cNvSpPr/>
          <p:nvPr/>
        </p:nvSpPr>
        <p:spPr>
          <a:xfrm>
            <a:off x="6275785" y="4626968"/>
            <a:ext cx="142181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83" dirty="0">
                <a:solidFill>
                  <a:srgbClr val="384653"/>
                </a:solidFill>
                <a:ea typeface="Barlow Light" pitchFamily="34" charset="-122"/>
                <a:cs typeface="Barlow Light" pitchFamily="34" charset="-120"/>
              </a:rPr>
              <a:t>05</a:t>
            </a:r>
            <a:endParaRPr lang="en-US" sz="1083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784" y="4792762"/>
            <a:ext cx="5290642" cy="190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75784" y="4958656"/>
            <a:ext cx="3157042" cy="233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458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Resources terminate post-completion</a:t>
            </a:r>
            <a:endParaRPr lang="en-US" sz="1458" dirty="0"/>
          </a:p>
        </p:txBody>
      </p:sp>
      <p:sp>
        <p:nvSpPr>
          <p:cNvPr id="21" name="Shape 14"/>
          <p:cNvSpPr/>
          <p:nvPr/>
        </p:nvSpPr>
        <p:spPr>
          <a:xfrm>
            <a:off x="631924" y="5619082"/>
            <a:ext cx="10928152" cy="24110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22" name="Text 15"/>
          <p:cNvSpPr/>
          <p:nvPr/>
        </p:nvSpPr>
        <p:spPr>
          <a:xfrm>
            <a:off x="631924" y="5874048"/>
            <a:ext cx="10928152" cy="454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83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Technical Specifications:</a:t>
            </a:r>
            <a:r>
              <a:rPr lang="en-US" sz="1083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50 compute nodes | 400 GPUs | 200 Gbps network fabric | 1TB RAM per node | 128GB HBM per GPU | NFS/ZFS shared volumes | Support for 2 parallel jobs per GPU | 8 HPC parallel jobs per user</a:t>
            </a:r>
            <a:endParaRPr lang="en-US" sz="108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496" y="349548"/>
            <a:ext cx="6146205" cy="313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58"/>
              </a:lnSpc>
            </a:pPr>
            <a:r>
              <a:rPr lang="en-US" sz="1958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Architecture Evolution: From Bare Metal to Elastic Pods</a:t>
            </a:r>
            <a:endParaRPr lang="en-US" sz="1958" dirty="0"/>
          </a:p>
        </p:txBody>
      </p:sp>
      <p:sp>
        <p:nvSpPr>
          <p:cNvPr id="3" name="Text 1"/>
          <p:cNvSpPr/>
          <p:nvPr/>
        </p:nvSpPr>
        <p:spPr>
          <a:xfrm>
            <a:off x="508496" y="901502"/>
            <a:ext cx="1505545" cy="18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8"/>
              </a:lnSpc>
            </a:pPr>
            <a:r>
              <a:rPr lang="en-US" sz="1167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Previous State</a:t>
            </a:r>
            <a:endParaRPr lang="en-US" sz="116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96" y="1196876"/>
            <a:ext cx="4400878" cy="45548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8496" y="5858967"/>
            <a:ext cx="5243017" cy="304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67"/>
              </a:lnSpc>
            </a:pP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Traditional architecture relied on bare-metal servers with static provisioning. Jobs waited in queue for physical resources to become available, leading to poor utilization and extended wait times.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990432" y="901502"/>
            <a:ext cx="1529557" cy="18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8"/>
              </a:lnSpc>
            </a:pPr>
            <a:r>
              <a:rPr lang="en-US" sz="1167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Current State with EKP</a:t>
            </a:r>
            <a:endParaRPr lang="en-US" sz="1167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0432" y="1196876"/>
            <a:ext cx="5747858" cy="4359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38967" y="5858967"/>
            <a:ext cx="5699323" cy="304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67"/>
              </a:lnSpc>
            </a:pP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Modern elastic architecture leverages Kubernetes pod orchestration. Compute resources provision dynamically in seconds, scale based on demand, and terminate automatically, maximizing efficiency and throughput.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08496" y="6356946"/>
            <a:ext cx="11175008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67"/>
              </a:lnSpc>
            </a:pPr>
            <a:r>
              <a:rPr lang="en-US" sz="1000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Transformation Impact:</a:t>
            </a: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Migration from static bare-metal provisioning to dynamic pod orchestration reduced job start times by 50% while improving GPU utilization by 3×.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3439" y="173075"/>
            <a:ext cx="5405438" cy="33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25"/>
              </a:lnSpc>
            </a:pPr>
            <a:r>
              <a:rPr lang="en-US" sz="2125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System Architecture: Component Interaction</a:t>
            </a:r>
            <a:endParaRPr lang="en-US" sz="2125" dirty="0"/>
          </a:p>
        </p:txBody>
      </p:sp>
      <p:sp>
        <p:nvSpPr>
          <p:cNvPr id="4" name="Shape 1"/>
          <p:cNvSpPr/>
          <p:nvPr/>
        </p:nvSpPr>
        <p:spPr>
          <a:xfrm>
            <a:off x="690612" y="4292303"/>
            <a:ext cx="3574257" cy="1187450"/>
          </a:xfrm>
          <a:prstGeom prst="roundRect">
            <a:avLst>
              <a:gd name="adj" fmla="val 12972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54" y="4401245"/>
            <a:ext cx="307975" cy="30797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4188" y="4485879"/>
            <a:ext cx="138608" cy="13860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99555" y="4811812"/>
            <a:ext cx="1351161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92"/>
              </a:lnSpc>
            </a:pPr>
            <a:r>
              <a:rPr lang="en-US" sz="1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Slurm Controller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799554" y="5042198"/>
            <a:ext cx="3356372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92"/>
              </a:lnSpc>
            </a:pP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Manages job queues, triggers elastic provisioning, communicates with Kubernetes, monitors jobs.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4367460" y="4292303"/>
            <a:ext cx="3574356" cy="1187450"/>
          </a:xfrm>
          <a:prstGeom prst="roundRect">
            <a:avLst>
              <a:gd name="adj" fmla="val 12972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6403" y="4401245"/>
            <a:ext cx="307975" cy="30797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61036" y="4485879"/>
            <a:ext cx="138608" cy="13860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476403" y="4811812"/>
            <a:ext cx="1351161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92"/>
              </a:lnSpc>
            </a:pPr>
            <a:r>
              <a:rPr lang="en-US" sz="1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Kubernetes Cluster</a:t>
            </a:r>
            <a:endParaRPr lang="en-US" sz="1000" dirty="0"/>
          </a:p>
        </p:txBody>
      </p:sp>
      <p:sp>
        <p:nvSpPr>
          <p:cNvPr id="13" name="Text 6"/>
          <p:cNvSpPr/>
          <p:nvPr/>
        </p:nvSpPr>
        <p:spPr>
          <a:xfrm>
            <a:off x="4476403" y="5042198"/>
            <a:ext cx="3356471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92"/>
              </a:lnSpc>
            </a:pP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Schedules compute pods, provides elastic scaling, manages pod lifecycle and cleanup.</a:t>
            </a:r>
            <a:endParaRPr lang="en-US" sz="1000" dirty="0"/>
          </a:p>
        </p:txBody>
      </p:sp>
      <p:sp>
        <p:nvSpPr>
          <p:cNvPr id="14" name="Shape 7"/>
          <p:cNvSpPr/>
          <p:nvPr/>
        </p:nvSpPr>
        <p:spPr>
          <a:xfrm>
            <a:off x="8044407" y="4292303"/>
            <a:ext cx="3574257" cy="1187450"/>
          </a:xfrm>
          <a:prstGeom prst="roundRect">
            <a:avLst>
              <a:gd name="adj" fmla="val 12972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3350" y="4401245"/>
            <a:ext cx="307975" cy="307975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37984" y="4485879"/>
            <a:ext cx="138608" cy="13860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8153350" y="4811812"/>
            <a:ext cx="1351161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92"/>
              </a:lnSpc>
            </a:pPr>
            <a:r>
              <a:rPr lang="en-US" sz="1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Elastic Compute Pods</a:t>
            </a:r>
            <a:endParaRPr lang="en-US" sz="1000" dirty="0"/>
          </a:p>
        </p:txBody>
      </p:sp>
      <p:sp>
        <p:nvSpPr>
          <p:cNvPr id="18" name="Text 9"/>
          <p:cNvSpPr/>
          <p:nvPr/>
        </p:nvSpPr>
        <p:spPr>
          <a:xfrm>
            <a:off x="8153350" y="5042198"/>
            <a:ext cx="3356372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92"/>
              </a:lnSpc>
            </a:pP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Run slurmd daemon, register as compute nodes, execute workloads, terminate post-job.</a:t>
            </a:r>
            <a:endParaRPr lang="en-US" sz="1000" dirty="0"/>
          </a:p>
        </p:txBody>
      </p:sp>
      <p:sp>
        <p:nvSpPr>
          <p:cNvPr id="19" name="Text 10"/>
          <p:cNvSpPr/>
          <p:nvPr/>
        </p:nvSpPr>
        <p:spPr>
          <a:xfrm>
            <a:off x="690612" y="5595243"/>
            <a:ext cx="10928152" cy="164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92"/>
              </a:lnSpc>
            </a:pP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Each pod runs a lightweight </a:t>
            </a:r>
            <a:r>
              <a:rPr lang="en-US" sz="1000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slurmd</a:t>
            </a: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daemon, dynamically joining the Slurm cluster as a compute node capable of executing MPI, GPU, and HPC workloads, terminating automatically post-job.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0040B66-E41F-5BD0-1722-BD0ADDFD41A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10382" y="780309"/>
            <a:ext cx="7841038" cy="31285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6476" y="368796"/>
            <a:ext cx="4206677" cy="252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792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Implementation: Configuration Highlights</a:t>
            </a:r>
            <a:endParaRPr lang="en-US" sz="1792" dirty="0"/>
          </a:p>
        </p:txBody>
      </p:sp>
      <p:sp>
        <p:nvSpPr>
          <p:cNvPr id="3" name="Text 1"/>
          <p:cNvSpPr/>
          <p:nvPr/>
        </p:nvSpPr>
        <p:spPr>
          <a:xfrm>
            <a:off x="536476" y="873523"/>
            <a:ext cx="1915418" cy="12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10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Step 1: Build or pull a Slurm Pod Image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6476" y="1104007"/>
            <a:ext cx="5453162" cy="245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83"/>
              </a:lnSpc>
            </a:pP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Create container image with </a:t>
            </a:r>
            <a:r>
              <a:rPr lang="en-US" sz="1000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slurmd</a:t>
            </a: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000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munge</a:t>
            </a: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authentication, and minimal dependencies. Store in ECR image repository for deployment. Configure </a:t>
            </a:r>
            <a:r>
              <a:rPr lang="en-US" sz="1000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slurm.conf</a:t>
            </a: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to point to the controller.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6476" y="1470125"/>
            <a:ext cx="2720578" cy="12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10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Step 2: Create Kubernetes Service Account and RBAC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6476" y="1700609"/>
            <a:ext cx="5453162" cy="122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83"/>
              </a:lnSpc>
            </a:pP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Give Slurm permission to create pods using the following Kubernetes YAML configurations: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6476" y="1938140"/>
            <a:ext cx="5453162" cy="3916594"/>
          </a:xfrm>
          <a:prstGeom prst="roundRect">
            <a:avLst>
              <a:gd name="adj" fmla="val 293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532210" y="1938140"/>
            <a:ext cx="5461694" cy="3916594"/>
          </a:xfrm>
          <a:prstGeom prst="roundRect">
            <a:avLst>
              <a:gd name="adj" fmla="val 29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619323" y="2003525"/>
            <a:ext cx="5287467" cy="3801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 err="1"/>
              <a:t>apiVersion</a:t>
            </a:r>
            <a:r>
              <a:rPr lang="en-US" sz="1000" dirty="0"/>
              <a:t>: rbac.authorization.k8s.io/v1</a:t>
            </a:r>
          </a:p>
          <a:p>
            <a:r>
              <a:rPr lang="en-US" sz="1000" dirty="0"/>
              <a:t>kind: Role</a:t>
            </a:r>
          </a:p>
          <a:p>
            <a:r>
              <a:rPr lang="en-US" sz="1000" dirty="0"/>
              <a:t>metadata:</a:t>
            </a:r>
          </a:p>
          <a:p>
            <a:r>
              <a:rPr lang="en-US" sz="1000" dirty="0"/>
              <a:t>  name: </a:t>
            </a:r>
            <a:r>
              <a:rPr lang="en-US" sz="1000" dirty="0" err="1"/>
              <a:t>slurm</a:t>
            </a:r>
            <a:r>
              <a:rPr lang="en-US" sz="1000" dirty="0"/>
              <a:t>-elastic</a:t>
            </a:r>
          </a:p>
          <a:p>
            <a:r>
              <a:rPr lang="en-US" sz="1000" dirty="0"/>
              <a:t> </a:t>
            </a:r>
          </a:p>
          <a:p>
            <a:r>
              <a:rPr lang="en-US" sz="1000" dirty="0"/>
              <a:t>rules: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apiGroups</a:t>
            </a:r>
            <a:r>
              <a:rPr lang="en-US" sz="1000" dirty="0"/>
              <a:t>: [""]</a:t>
            </a:r>
          </a:p>
          <a:p>
            <a:r>
              <a:rPr lang="en-US" sz="1000" dirty="0"/>
              <a:t>  resources: ["pods"]</a:t>
            </a:r>
          </a:p>
          <a:p>
            <a:r>
              <a:rPr lang="en-US" sz="1000" dirty="0"/>
              <a:t>  verbs: ["create", "delete", "list", "get"]</a:t>
            </a:r>
          </a:p>
          <a:p>
            <a:r>
              <a:rPr lang="en-US" sz="1000" dirty="0"/>
              <a:t>---</a:t>
            </a:r>
          </a:p>
          <a:p>
            <a:r>
              <a:rPr lang="en-US" sz="1000" dirty="0" err="1"/>
              <a:t>apiVersion</a:t>
            </a:r>
            <a:r>
              <a:rPr lang="en-US" sz="1000" dirty="0"/>
              <a:t>: rbac.authorization.k8s.io/v1</a:t>
            </a:r>
          </a:p>
          <a:p>
            <a:r>
              <a:rPr lang="en-US" sz="1000" dirty="0"/>
              <a:t>kind: </a:t>
            </a:r>
            <a:r>
              <a:rPr lang="en-US" sz="1000" dirty="0" err="1"/>
              <a:t>RoleBinding</a:t>
            </a:r>
            <a:endParaRPr lang="en-US" sz="1000" dirty="0"/>
          </a:p>
          <a:p>
            <a:r>
              <a:rPr lang="en-US" sz="1000" dirty="0"/>
              <a:t>metadata:</a:t>
            </a:r>
          </a:p>
          <a:p>
            <a:r>
              <a:rPr lang="en-US" sz="1000" dirty="0"/>
              <a:t>  name: </a:t>
            </a:r>
            <a:r>
              <a:rPr lang="en-US" sz="1000" dirty="0" err="1"/>
              <a:t>slurm</a:t>
            </a:r>
            <a:r>
              <a:rPr lang="en-US" sz="1000" dirty="0"/>
              <a:t>-elastic-binding</a:t>
            </a:r>
          </a:p>
          <a:p>
            <a:r>
              <a:rPr lang="en-US" sz="1000" dirty="0" err="1"/>
              <a:t>roleRef</a:t>
            </a:r>
            <a:r>
              <a:rPr lang="en-US" sz="1000" dirty="0"/>
              <a:t>:</a:t>
            </a:r>
          </a:p>
          <a:p>
            <a:r>
              <a:rPr lang="en-US" sz="1000" dirty="0"/>
              <a:t>  kind: Role</a:t>
            </a:r>
          </a:p>
          <a:p>
            <a:r>
              <a:rPr lang="en-US" sz="1000" dirty="0"/>
              <a:t>  name: </a:t>
            </a:r>
            <a:r>
              <a:rPr lang="en-US" sz="1000" dirty="0" err="1"/>
              <a:t>slurm</a:t>
            </a:r>
            <a:r>
              <a:rPr lang="en-US" sz="1000" dirty="0"/>
              <a:t>-elastic</a:t>
            </a:r>
          </a:p>
          <a:p>
            <a:r>
              <a:rPr lang="en-US" sz="1000" dirty="0"/>
              <a:t>  </a:t>
            </a:r>
            <a:r>
              <a:rPr lang="en-US" sz="1000" dirty="0" err="1"/>
              <a:t>apiGroup</a:t>
            </a:r>
            <a:r>
              <a:rPr lang="en-US" sz="1000" dirty="0"/>
              <a:t>: rbac.authorization.k8s.io</a:t>
            </a:r>
          </a:p>
          <a:p>
            <a:r>
              <a:rPr lang="en-US" sz="1000" dirty="0"/>
              <a:t>subjects:</a:t>
            </a:r>
          </a:p>
          <a:p>
            <a:r>
              <a:rPr lang="en-US" sz="1000" dirty="0"/>
              <a:t>- kind: </a:t>
            </a:r>
            <a:r>
              <a:rPr lang="en-US" sz="1000" dirty="0" err="1"/>
              <a:t>ServiceAccount</a:t>
            </a:r>
            <a:endParaRPr lang="en-US" sz="1000" dirty="0"/>
          </a:p>
          <a:p>
            <a:r>
              <a:rPr lang="en-US" sz="1000" dirty="0"/>
              <a:t>  name: </a:t>
            </a:r>
            <a:r>
              <a:rPr lang="en-US" sz="1000" dirty="0" err="1"/>
              <a:t>slurm</a:t>
            </a:r>
            <a:endParaRPr lang="en-US" sz="1000" dirty="0"/>
          </a:p>
          <a:p>
            <a:r>
              <a:rPr lang="en-US" sz="1000" dirty="0"/>
              <a:t>  namespace: default</a:t>
            </a:r>
          </a:p>
          <a:p>
            <a:pPr>
              <a:lnSpc>
                <a:spcPts val="1083"/>
              </a:lnSpc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08712" y="873523"/>
            <a:ext cx="2348707" cy="12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10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Step 3: Configure slurm.conf for Elastic Nodes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08712" y="1104007"/>
            <a:ext cx="5453162" cy="122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83"/>
              </a:lnSpc>
            </a:pP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Update </a:t>
            </a:r>
            <a:r>
              <a:rPr lang="en-US" sz="1000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slurm.conf</a:t>
            </a: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with elastic node definitions. Add the following example snippet: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08712" y="1341537"/>
            <a:ext cx="5453162" cy="482858"/>
          </a:xfrm>
          <a:prstGeom prst="roundRect">
            <a:avLst>
              <a:gd name="adj" fmla="val 2381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6291561" y="1352450"/>
            <a:ext cx="5461694" cy="549845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6291560" y="1406921"/>
            <a:ext cx="5287467" cy="482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83"/>
              </a:lnSpc>
            </a:pPr>
            <a:r>
              <a:rPr lang="en-US" sz="1000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# slurm.conf snippet for elastic nodes</a:t>
            </a:r>
          </a:p>
          <a:p>
            <a:pPr>
              <a:lnSpc>
                <a:spcPts val="1083"/>
              </a:lnSpc>
            </a:pPr>
            <a:r>
              <a:rPr lang="en-US" sz="1000" dirty="0" err="1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NodeName</a:t>
            </a:r>
            <a:r>
              <a:rPr lang="en-US" sz="1000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=elastic[1-100] State=CLOUD</a:t>
            </a:r>
          </a:p>
          <a:p>
            <a:pPr>
              <a:lnSpc>
                <a:spcPts val="1083"/>
              </a:lnSpc>
            </a:pPr>
            <a:r>
              <a:rPr lang="en-US" sz="1000" dirty="0" err="1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PartitionName</a:t>
            </a:r>
            <a:r>
              <a:rPr lang="en-US" sz="1000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=ekp Nodes=elastic[1-100] Default=YES </a:t>
            </a:r>
          </a:p>
          <a:p>
            <a:pPr>
              <a:lnSpc>
                <a:spcPts val="1083"/>
              </a:lnSpc>
            </a:pPr>
            <a:r>
              <a:rPr lang="en-US" sz="1000" dirty="0" err="1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MaxTime</a:t>
            </a:r>
            <a:r>
              <a:rPr lang="en-US" sz="1000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=INFINITE State=UP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08713" y="2026941"/>
            <a:ext cx="1611709" cy="12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10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Step 4: Add Slurm Prolog Plugin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08712" y="2219325"/>
            <a:ext cx="5453162" cy="122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83"/>
              </a:lnSpc>
            </a:pP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Configure </a:t>
            </a:r>
            <a:r>
              <a:rPr lang="en-US" sz="1000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slurm.conf</a:t>
            </a: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to use a Prolog script for dynamic pod provisioning. Example: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08712" y="2456855"/>
            <a:ext cx="5453162" cy="360225"/>
          </a:xfrm>
          <a:prstGeom prst="roundRect">
            <a:avLst>
              <a:gd name="adj" fmla="val 3191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6204446" y="2456855"/>
            <a:ext cx="5461694" cy="360225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6291560" y="2522240"/>
            <a:ext cx="5287467" cy="245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83"/>
              </a:lnSpc>
            </a:pPr>
            <a:r>
              <a:rPr lang="en-US" sz="1000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# slurm.conf snippet for prologProlog=/etc/slurm/prolog.sh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08712" y="2964656"/>
            <a:ext cx="5453162" cy="122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83"/>
              </a:lnSpc>
            </a:pP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Example </a:t>
            </a:r>
            <a:r>
              <a:rPr lang="en-US" sz="1000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prolog.sh</a:t>
            </a: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script (simplified):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08712" y="3202186"/>
            <a:ext cx="5453162" cy="728125"/>
          </a:xfrm>
          <a:prstGeom prst="roundRect">
            <a:avLst>
              <a:gd name="adj" fmla="val 1579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6204446" y="3202186"/>
            <a:ext cx="5461694" cy="728125"/>
          </a:xfrm>
          <a:prstGeom prst="roundRect">
            <a:avLst>
              <a:gd name="adj" fmla="val 157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6291560" y="3267572"/>
            <a:ext cx="5287467" cy="613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83"/>
              </a:lnSpc>
            </a:pPr>
            <a:r>
              <a:rPr lang="en-US" sz="1000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#!/bin/bash# Example prolog.sh scriptNODELIST=$SLURM_JOB_NODELIST# Logic to call kubectl to provision pods for NODELIST# e.g., kubectl apply -f pod-template.yaml --selector=slurm.node=$NODELIST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08713" y="4128493"/>
            <a:ext cx="1439863" cy="12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10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Step 5: Test Job Submission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08712" y="4358978"/>
            <a:ext cx="5453162" cy="122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83"/>
              </a:lnSpc>
            </a:pP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Submit a test job via </a:t>
            </a:r>
            <a:r>
              <a:rPr lang="en-US" sz="1000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sbatch</a:t>
            </a: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and verify successful execution on elastic nodes.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08712" y="4596507"/>
            <a:ext cx="5453162" cy="360225"/>
          </a:xfrm>
          <a:prstGeom prst="roundRect">
            <a:avLst>
              <a:gd name="adj" fmla="val 3191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6204446" y="4596507"/>
            <a:ext cx="5461694" cy="360225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6291560" y="4661892"/>
            <a:ext cx="5287467" cy="245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83"/>
              </a:lnSpc>
            </a:pPr>
            <a:r>
              <a:rPr lang="en-US" sz="1000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# Example sbatch commandsbatch --nodes=2 --wrap="hostname"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08712" y="5104308"/>
            <a:ext cx="5453162" cy="245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83"/>
              </a:lnSpc>
            </a:pP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Verify pod creation in Kubernetes, </a:t>
            </a:r>
            <a:r>
              <a:rPr lang="en-US" sz="1000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slurmd</a:t>
            </a: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registration, workload execution, and automatic pod termination after job completion.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948" y="432395"/>
            <a:ext cx="4978301" cy="49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33"/>
              </a:lnSpc>
            </a:pPr>
            <a:r>
              <a:rPr lang="en-US" sz="3083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Results and Business Impact</a:t>
            </a:r>
            <a:endParaRPr lang="en-US" sz="3083" dirty="0"/>
          </a:p>
        </p:txBody>
      </p:sp>
      <p:sp>
        <p:nvSpPr>
          <p:cNvPr id="3" name="Text 1"/>
          <p:cNvSpPr/>
          <p:nvPr/>
        </p:nvSpPr>
        <p:spPr>
          <a:xfrm>
            <a:off x="1470223" y="2193430"/>
            <a:ext cx="1837432" cy="373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917"/>
              </a:lnSpc>
            </a:pPr>
            <a:r>
              <a:rPr lang="en-US" sz="2917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50%</a:t>
            </a:r>
            <a:endParaRPr lang="en-US" sz="291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611" y="1259781"/>
            <a:ext cx="2240856" cy="22408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06228" y="3687267"/>
            <a:ext cx="1965623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lang="en-US" sz="1542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Faster Job Start</a:t>
            </a:r>
            <a:endParaRPr lang="en-US" sz="1542" dirty="0"/>
          </a:p>
        </p:txBody>
      </p:sp>
      <p:sp>
        <p:nvSpPr>
          <p:cNvPr id="6" name="Text 3"/>
          <p:cNvSpPr/>
          <p:nvPr/>
        </p:nvSpPr>
        <p:spPr>
          <a:xfrm>
            <a:off x="628947" y="4022527"/>
            <a:ext cx="3520182" cy="47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75"/>
              </a:lnSpc>
            </a:pP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Reduced provisioning time from minutes to seconds with dynamic pod creation</a:t>
            </a:r>
            <a:endParaRPr lang="en-US" sz="1167" dirty="0"/>
          </a:p>
        </p:txBody>
      </p:sp>
      <p:sp>
        <p:nvSpPr>
          <p:cNvPr id="7" name="Text 4"/>
          <p:cNvSpPr/>
          <p:nvPr/>
        </p:nvSpPr>
        <p:spPr>
          <a:xfrm>
            <a:off x="5177135" y="2193430"/>
            <a:ext cx="1837432" cy="373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917"/>
              </a:lnSpc>
            </a:pPr>
            <a:r>
              <a:rPr lang="en-US" sz="2917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3X</a:t>
            </a:r>
            <a:endParaRPr lang="en-US" sz="2917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523" y="1259781"/>
            <a:ext cx="2240856" cy="22408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13139" y="3687267"/>
            <a:ext cx="1965623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lang="en-US" sz="1542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GPU Utilization</a:t>
            </a:r>
            <a:endParaRPr lang="en-US" sz="1542" dirty="0"/>
          </a:p>
        </p:txBody>
      </p:sp>
      <p:sp>
        <p:nvSpPr>
          <p:cNvPr id="10" name="Text 6"/>
          <p:cNvSpPr/>
          <p:nvPr/>
        </p:nvSpPr>
        <p:spPr>
          <a:xfrm>
            <a:off x="4335859" y="4022527"/>
            <a:ext cx="3520182" cy="47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75"/>
              </a:lnSpc>
            </a:pP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Improved resource efficiency through elastic scaling and auto-termination</a:t>
            </a:r>
            <a:endParaRPr lang="en-US" sz="1167" dirty="0"/>
          </a:p>
        </p:txBody>
      </p:sp>
      <p:sp>
        <p:nvSpPr>
          <p:cNvPr id="11" name="Text 7"/>
          <p:cNvSpPr/>
          <p:nvPr/>
        </p:nvSpPr>
        <p:spPr>
          <a:xfrm>
            <a:off x="8884047" y="2193430"/>
            <a:ext cx="1837432" cy="373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917"/>
              </a:lnSpc>
            </a:pPr>
            <a:r>
              <a:rPr lang="en-US" sz="2917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25K+</a:t>
            </a:r>
            <a:endParaRPr lang="en-US" sz="2917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2435" y="1259781"/>
            <a:ext cx="2240856" cy="22408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820051" y="3687267"/>
            <a:ext cx="1965623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lang="en-US" sz="1542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Active Users</a:t>
            </a:r>
            <a:endParaRPr lang="en-US" sz="1542" dirty="0"/>
          </a:p>
        </p:txBody>
      </p:sp>
      <p:sp>
        <p:nvSpPr>
          <p:cNvPr id="14" name="Text 9"/>
          <p:cNvSpPr/>
          <p:nvPr/>
        </p:nvSpPr>
        <p:spPr>
          <a:xfrm>
            <a:off x="8042771" y="4022527"/>
            <a:ext cx="3520182" cy="47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75"/>
              </a:lnSpc>
            </a:pP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Successfully scaled Intel Tiber AI Cloud to support enterprise workloads</a:t>
            </a:r>
            <a:endParaRPr lang="en-US" sz="1167" dirty="0"/>
          </a:p>
        </p:txBody>
      </p:sp>
      <p:sp>
        <p:nvSpPr>
          <p:cNvPr id="15" name="Text 10"/>
          <p:cNvSpPr/>
          <p:nvPr/>
        </p:nvSpPr>
        <p:spPr>
          <a:xfrm>
            <a:off x="628948" y="4817865"/>
            <a:ext cx="2544465" cy="294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Technical Achievements</a:t>
            </a:r>
            <a:endParaRPr lang="en-US" sz="1833" dirty="0"/>
          </a:p>
        </p:txBody>
      </p:sp>
      <p:sp>
        <p:nvSpPr>
          <p:cNvPr id="16" name="Text 11"/>
          <p:cNvSpPr/>
          <p:nvPr/>
        </p:nvSpPr>
        <p:spPr>
          <a:xfrm>
            <a:off x="628947" y="5261968"/>
            <a:ext cx="5284887" cy="239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875"/>
              </a:lnSpc>
              <a:buSzPct val="100000"/>
              <a:buChar char="•"/>
            </a:pP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Unified orchestration for HPC batch jobs and AI training workloads</a:t>
            </a:r>
            <a:endParaRPr lang="en-US" sz="1167" dirty="0"/>
          </a:p>
        </p:txBody>
      </p:sp>
      <p:sp>
        <p:nvSpPr>
          <p:cNvPr id="17" name="Text 12"/>
          <p:cNvSpPr/>
          <p:nvPr/>
        </p:nvSpPr>
        <p:spPr>
          <a:xfrm>
            <a:off x="628947" y="5553174"/>
            <a:ext cx="5284887" cy="239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875"/>
              </a:lnSpc>
              <a:buSzPct val="100000"/>
              <a:buChar char="•"/>
            </a:pP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Auto-scaling compute infrastructure based on real-time demand</a:t>
            </a:r>
            <a:endParaRPr lang="en-US" sz="1167" dirty="0"/>
          </a:p>
        </p:txBody>
      </p:sp>
      <p:sp>
        <p:nvSpPr>
          <p:cNvPr id="18" name="Text 13"/>
          <p:cNvSpPr/>
          <p:nvPr/>
        </p:nvSpPr>
        <p:spPr>
          <a:xfrm>
            <a:off x="628947" y="5844382"/>
            <a:ext cx="5284887" cy="239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875"/>
              </a:lnSpc>
              <a:buSzPct val="100000"/>
              <a:buChar char="•"/>
            </a:pP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Hybrid cloud capabilities enabling multi-region deployments</a:t>
            </a:r>
            <a:endParaRPr lang="en-US" sz="1167" dirty="0"/>
          </a:p>
        </p:txBody>
      </p:sp>
      <p:sp>
        <p:nvSpPr>
          <p:cNvPr id="19" name="Text 14"/>
          <p:cNvSpPr/>
          <p:nvPr/>
        </p:nvSpPr>
        <p:spPr>
          <a:xfrm>
            <a:off x="628947" y="6135589"/>
            <a:ext cx="5284887" cy="239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875"/>
              </a:lnSpc>
              <a:buSzPct val="100000"/>
              <a:buChar char="•"/>
            </a:pP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Seamless integration with existing Slurm-based workflows</a:t>
            </a:r>
            <a:endParaRPr lang="en-US" sz="1167" dirty="0"/>
          </a:p>
        </p:txBody>
      </p:sp>
      <p:sp>
        <p:nvSpPr>
          <p:cNvPr id="20" name="Text 15"/>
          <p:cNvSpPr/>
          <p:nvPr/>
        </p:nvSpPr>
        <p:spPr>
          <a:xfrm>
            <a:off x="6284516" y="4817865"/>
            <a:ext cx="2358728" cy="294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Operational Benefits</a:t>
            </a:r>
            <a:endParaRPr lang="en-US" sz="1833" dirty="0"/>
          </a:p>
        </p:txBody>
      </p:sp>
      <p:sp>
        <p:nvSpPr>
          <p:cNvPr id="21" name="Text 16"/>
          <p:cNvSpPr/>
          <p:nvPr/>
        </p:nvSpPr>
        <p:spPr>
          <a:xfrm>
            <a:off x="6284516" y="5261968"/>
            <a:ext cx="5284887" cy="239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875"/>
              </a:lnSpc>
              <a:buSzPct val="100000"/>
              <a:buChar char="•"/>
            </a:pP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Reduced infrastructure costs through efficient resource utilization</a:t>
            </a:r>
            <a:endParaRPr lang="en-US" sz="1167" dirty="0"/>
          </a:p>
        </p:txBody>
      </p:sp>
      <p:sp>
        <p:nvSpPr>
          <p:cNvPr id="22" name="Text 17"/>
          <p:cNvSpPr/>
          <p:nvPr/>
        </p:nvSpPr>
        <p:spPr>
          <a:xfrm>
            <a:off x="6284516" y="5553174"/>
            <a:ext cx="5284887" cy="239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875"/>
              </a:lnSpc>
              <a:buSzPct val="100000"/>
              <a:buChar char="•"/>
            </a:pP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Improved time-to-science for researchers and data scientists</a:t>
            </a:r>
            <a:endParaRPr lang="en-US" sz="1167" dirty="0"/>
          </a:p>
        </p:txBody>
      </p:sp>
      <p:sp>
        <p:nvSpPr>
          <p:cNvPr id="23" name="Text 18"/>
          <p:cNvSpPr/>
          <p:nvPr/>
        </p:nvSpPr>
        <p:spPr>
          <a:xfrm>
            <a:off x="6284516" y="5844382"/>
            <a:ext cx="5284887" cy="239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875"/>
              </a:lnSpc>
              <a:buSzPct val="100000"/>
              <a:buChar char="•"/>
            </a:pP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Enhanced system reliability with container-based isolation</a:t>
            </a:r>
            <a:endParaRPr lang="en-US" sz="1167" dirty="0"/>
          </a:p>
        </p:txBody>
      </p:sp>
      <p:sp>
        <p:nvSpPr>
          <p:cNvPr id="24" name="Text 19"/>
          <p:cNvSpPr/>
          <p:nvPr/>
        </p:nvSpPr>
        <p:spPr>
          <a:xfrm>
            <a:off x="6284516" y="6135589"/>
            <a:ext cx="5284887" cy="239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875"/>
              </a:lnSpc>
              <a:buSzPct val="100000"/>
              <a:buChar char="•"/>
            </a:pPr>
            <a:r>
              <a:rPr lang="en-US" sz="116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Simplified operations with Kubernetes-native tooling</a:t>
            </a:r>
            <a:endParaRPr lang="en-US" sz="116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24" y="1167209"/>
            <a:ext cx="8252222" cy="519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83"/>
              </a:lnSpc>
            </a:pPr>
            <a:r>
              <a:rPr lang="en-US" sz="325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Alternative Approach: Native Slurm Operator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31925" y="2081708"/>
            <a:ext cx="4171454" cy="311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17"/>
              </a:lnSpc>
            </a:pPr>
            <a:r>
              <a:rPr lang="en-US" sz="1958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Kubernetes-Native Slurm Deployment</a:t>
            </a:r>
            <a:endParaRPr lang="en-US" sz="1958" dirty="0"/>
          </a:p>
        </p:txBody>
      </p:sp>
      <p:sp>
        <p:nvSpPr>
          <p:cNvPr id="4" name="Text 2"/>
          <p:cNvSpPr/>
          <p:nvPr/>
        </p:nvSpPr>
        <p:spPr>
          <a:xfrm>
            <a:off x="631925" y="2551410"/>
            <a:ext cx="5837039" cy="1010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208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An alternative architecture involves running Slurm entirely inside Kubernetes using the </a:t>
            </a:r>
            <a:r>
              <a:rPr lang="en-US" sz="1208" u="sng" dirty="0">
                <a:solidFill>
                  <a:srgbClr val="359DDF"/>
                </a:solidFill>
                <a:ea typeface="Montserrat" pitchFamily="34" charset="-122"/>
                <a:cs typeface="Montserrat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SchedMD Slurm Operator</a:t>
            </a:r>
            <a:r>
              <a:rPr lang="en-US" sz="1208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. This approach handles the complete lifecycle of controllers and compute pods through Kubernetes Custom Resource Definitions (CRDs).</a:t>
            </a:r>
            <a:endParaRPr lang="en-US" sz="1208" dirty="0"/>
          </a:p>
        </p:txBody>
      </p:sp>
      <p:sp>
        <p:nvSpPr>
          <p:cNvPr id="5" name="Text 3"/>
          <p:cNvSpPr/>
          <p:nvPr/>
        </p:nvSpPr>
        <p:spPr>
          <a:xfrm>
            <a:off x="631925" y="3704432"/>
            <a:ext cx="5837039" cy="758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208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Advantages:</a:t>
            </a:r>
            <a:r>
              <a:rPr lang="en-US" sz="1208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Simpler for new deployments, leverages Kubernetes-native constructs, reduces external dependencies, provides declarative job definitions.</a:t>
            </a:r>
            <a:endParaRPr lang="en-US" sz="1208" dirty="0"/>
          </a:p>
        </p:txBody>
      </p:sp>
      <p:sp>
        <p:nvSpPr>
          <p:cNvPr id="6" name="Text 4"/>
          <p:cNvSpPr/>
          <p:nvPr/>
        </p:nvSpPr>
        <p:spPr>
          <a:xfrm>
            <a:off x="631925" y="4604743"/>
            <a:ext cx="5837039" cy="758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208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Trade-offs:</a:t>
            </a:r>
            <a:r>
              <a:rPr lang="en-US" sz="1208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Locks architecture to Slurm scheduler, limiting future flexibility to adopt alternative schedulers. Less suitable for organizations with existing Slurm infrastructure requiring gradual migration.</a:t>
            </a:r>
            <a:endParaRPr lang="en-US" sz="1208" dirty="0"/>
          </a:p>
        </p:txBody>
      </p:sp>
      <p:sp>
        <p:nvSpPr>
          <p:cNvPr id="7" name="Shape 5"/>
          <p:cNvSpPr/>
          <p:nvPr/>
        </p:nvSpPr>
        <p:spPr>
          <a:xfrm>
            <a:off x="6860679" y="2101454"/>
            <a:ext cx="4705648" cy="2511326"/>
          </a:xfrm>
          <a:prstGeom prst="roundRect">
            <a:avLst>
              <a:gd name="adj" fmla="val 94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6852841" y="2101454"/>
            <a:ext cx="4721324" cy="2511326"/>
          </a:xfrm>
          <a:prstGeom prst="roundRect">
            <a:avLst>
              <a:gd name="adj" fmla="val 94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7010797" y="2219920"/>
            <a:ext cx="4405412" cy="2274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208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apiVersion: slurm.schedmd.com/v1alpha1</a:t>
            </a:r>
          </a:p>
          <a:p>
            <a:pPr>
              <a:lnSpc>
                <a:spcPts val="1958"/>
              </a:lnSpc>
            </a:pPr>
            <a:r>
              <a:rPr lang="en-US" sz="1208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kind: </a:t>
            </a:r>
            <a:r>
              <a:rPr lang="en-US" sz="1208" dirty="0" err="1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SlurmJob</a:t>
            </a:r>
            <a:endParaRPr lang="en-US" sz="1208" dirty="0">
              <a:solidFill>
                <a:srgbClr val="384653"/>
              </a:solidFill>
              <a:highlight>
                <a:srgbClr val="F2F2F2"/>
              </a:highlight>
              <a:ea typeface="Consolas" pitchFamily="34" charset="-122"/>
              <a:cs typeface="Consolas" pitchFamily="34" charset="-120"/>
            </a:endParaRPr>
          </a:p>
          <a:p>
            <a:pPr>
              <a:lnSpc>
                <a:spcPts val="1958"/>
              </a:lnSpc>
            </a:pPr>
            <a:r>
              <a:rPr lang="en-US" sz="1208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metadata:  </a:t>
            </a:r>
          </a:p>
          <a:p>
            <a:pPr>
              <a:lnSpc>
                <a:spcPts val="1958"/>
              </a:lnSpc>
            </a:pPr>
            <a:r>
              <a:rPr lang="en-US" sz="1208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   name: </a:t>
            </a:r>
            <a:r>
              <a:rPr lang="en-US" sz="1208" dirty="0" err="1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mpi</a:t>
            </a:r>
            <a:r>
              <a:rPr lang="en-US" sz="1208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-test</a:t>
            </a:r>
          </a:p>
          <a:p>
            <a:pPr>
              <a:lnSpc>
                <a:spcPts val="1958"/>
              </a:lnSpc>
            </a:pPr>
            <a:r>
              <a:rPr lang="en-US" sz="1208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spec:  </a:t>
            </a:r>
          </a:p>
          <a:p>
            <a:pPr>
              <a:lnSpc>
                <a:spcPts val="1958"/>
              </a:lnSpc>
            </a:pPr>
            <a:r>
              <a:rPr lang="en-US" sz="1208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   partition: default  </a:t>
            </a:r>
          </a:p>
          <a:p>
            <a:pPr>
              <a:lnSpc>
                <a:spcPts val="1958"/>
              </a:lnSpc>
            </a:pPr>
            <a:r>
              <a:rPr lang="en-US" sz="1208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    tasks: 4  </a:t>
            </a:r>
          </a:p>
          <a:p>
            <a:pPr>
              <a:lnSpc>
                <a:spcPts val="1958"/>
              </a:lnSpc>
            </a:pPr>
            <a:r>
              <a:rPr lang="en-US" sz="1208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    image: ghcr.io/schedmd/</a:t>
            </a:r>
            <a:r>
              <a:rPr lang="en-US" sz="1208" dirty="0" err="1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slurm:latest</a:t>
            </a:r>
            <a:r>
              <a:rPr lang="en-US" sz="1208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  </a:t>
            </a:r>
          </a:p>
          <a:p>
            <a:pPr>
              <a:lnSpc>
                <a:spcPts val="1958"/>
              </a:lnSpc>
            </a:pPr>
            <a:r>
              <a:rPr lang="en-US" sz="1208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    command: ["mpirun", "hostname"]</a:t>
            </a:r>
            <a:endParaRPr lang="en-US" sz="1208" dirty="0"/>
          </a:p>
        </p:txBody>
      </p:sp>
      <p:sp>
        <p:nvSpPr>
          <p:cNvPr id="10" name="Text 8"/>
          <p:cNvSpPr/>
          <p:nvPr/>
        </p:nvSpPr>
        <p:spPr>
          <a:xfrm>
            <a:off x="6860679" y="4790480"/>
            <a:ext cx="4705648" cy="758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208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Best Use Case:</a:t>
            </a:r>
            <a:r>
              <a:rPr lang="en-US" sz="1208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Greenfield deployments starting fresh with Kubernetes-first architecture and no legacy Slurm infrastructure to maintain.</a:t>
            </a:r>
            <a:endParaRPr lang="en-US" sz="120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0"/>
            <a:ext cx="48006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24" y="527645"/>
            <a:ext cx="6356152" cy="779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42"/>
              </a:lnSpc>
            </a:pPr>
            <a:r>
              <a:rPr lang="en-US" sz="2417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Case Study: Aurora Supercomputer at Argonne</a:t>
            </a:r>
            <a:endParaRPr lang="en-US" sz="2417" dirty="0"/>
          </a:p>
        </p:txBody>
      </p:sp>
      <p:sp>
        <p:nvSpPr>
          <p:cNvPr id="4" name="Text 1"/>
          <p:cNvSpPr/>
          <p:nvPr/>
        </p:nvSpPr>
        <p:spPr>
          <a:xfrm>
            <a:off x="631925" y="1603276"/>
            <a:ext cx="1870769" cy="233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458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System Architecture</a:t>
            </a:r>
            <a:endParaRPr lang="en-US" sz="1458" dirty="0"/>
          </a:p>
        </p:txBody>
      </p:sp>
      <p:sp>
        <p:nvSpPr>
          <p:cNvPr id="5" name="Text 2"/>
          <p:cNvSpPr/>
          <p:nvPr/>
        </p:nvSpPr>
        <p:spPr>
          <a:xfrm>
            <a:off x="631924" y="1955602"/>
            <a:ext cx="2900660" cy="947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8"/>
              </a:lnSpc>
            </a:pPr>
            <a:r>
              <a:rPr lang="en-US" sz="91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Exascale compute system delivered through Intel + HPE + DOE partnership, achieving breakthrough performance milestones for scientific research and national security applications.</a:t>
            </a:r>
            <a:endParaRPr lang="en-US" sz="917" dirty="0"/>
          </a:p>
        </p:txBody>
      </p:sp>
      <p:sp>
        <p:nvSpPr>
          <p:cNvPr id="6" name="Text 3"/>
          <p:cNvSpPr/>
          <p:nvPr/>
        </p:nvSpPr>
        <p:spPr>
          <a:xfrm>
            <a:off x="631924" y="3095625"/>
            <a:ext cx="2900660" cy="390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042"/>
              </a:lnSpc>
            </a:pPr>
            <a:r>
              <a:rPr lang="en-US" sz="3042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10.6K</a:t>
            </a:r>
            <a:endParaRPr lang="en-US" sz="3042" dirty="0"/>
          </a:p>
        </p:txBody>
      </p:sp>
      <p:sp>
        <p:nvSpPr>
          <p:cNvPr id="7" name="Text 4"/>
          <p:cNvSpPr/>
          <p:nvPr/>
        </p:nvSpPr>
        <p:spPr>
          <a:xfrm>
            <a:off x="1302743" y="3634582"/>
            <a:ext cx="1559024" cy="194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500"/>
              </a:lnSpc>
            </a:pPr>
            <a:r>
              <a:rPr lang="en-US" sz="1208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Compute Nodes</a:t>
            </a:r>
            <a:endParaRPr lang="en-US" sz="1208" dirty="0"/>
          </a:p>
        </p:txBody>
      </p:sp>
      <p:sp>
        <p:nvSpPr>
          <p:cNvPr id="8" name="Text 5"/>
          <p:cNvSpPr/>
          <p:nvPr/>
        </p:nvSpPr>
        <p:spPr>
          <a:xfrm>
            <a:off x="631924" y="4125516"/>
            <a:ext cx="2900660" cy="390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042"/>
              </a:lnSpc>
            </a:pPr>
            <a:r>
              <a:rPr lang="en-US" sz="3042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63.7K</a:t>
            </a:r>
            <a:endParaRPr lang="en-US" sz="3042" dirty="0"/>
          </a:p>
        </p:txBody>
      </p:sp>
      <p:sp>
        <p:nvSpPr>
          <p:cNvPr id="9" name="Text 6"/>
          <p:cNvSpPr/>
          <p:nvPr/>
        </p:nvSpPr>
        <p:spPr>
          <a:xfrm>
            <a:off x="1302743" y="4664472"/>
            <a:ext cx="1559024" cy="194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500"/>
              </a:lnSpc>
            </a:pPr>
            <a:r>
              <a:rPr lang="en-US" sz="1208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GPUs</a:t>
            </a:r>
            <a:endParaRPr lang="en-US" sz="1208" dirty="0"/>
          </a:p>
        </p:txBody>
      </p:sp>
      <p:sp>
        <p:nvSpPr>
          <p:cNvPr id="10" name="Text 7"/>
          <p:cNvSpPr/>
          <p:nvPr/>
        </p:nvSpPr>
        <p:spPr>
          <a:xfrm>
            <a:off x="631924" y="5155407"/>
            <a:ext cx="2900660" cy="390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042"/>
              </a:lnSpc>
            </a:pPr>
            <a:r>
              <a:rPr lang="en-US" sz="3042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1.012</a:t>
            </a:r>
            <a:endParaRPr lang="en-US" sz="3042" dirty="0"/>
          </a:p>
        </p:txBody>
      </p:sp>
      <p:sp>
        <p:nvSpPr>
          <p:cNvPr id="11" name="Text 8"/>
          <p:cNvSpPr/>
          <p:nvPr/>
        </p:nvSpPr>
        <p:spPr>
          <a:xfrm>
            <a:off x="1302743" y="5694362"/>
            <a:ext cx="1559024" cy="194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500"/>
              </a:lnSpc>
            </a:pPr>
            <a:r>
              <a:rPr lang="en-US" sz="1208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ExaFLOPS</a:t>
            </a:r>
            <a:endParaRPr lang="en-US" sz="1208" dirty="0"/>
          </a:p>
        </p:txBody>
      </p:sp>
      <p:sp>
        <p:nvSpPr>
          <p:cNvPr id="12" name="Text 9"/>
          <p:cNvSpPr/>
          <p:nvPr/>
        </p:nvSpPr>
        <p:spPr>
          <a:xfrm>
            <a:off x="631924" y="5882160"/>
            <a:ext cx="2900660" cy="189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458"/>
              </a:lnSpc>
            </a:pPr>
            <a:r>
              <a:rPr lang="en-US" sz="917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FP64 Linpack</a:t>
            </a:r>
            <a:endParaRPr lang="en-US" sz="917" dirty="0"/>
          </a:p>
        </p:txBody>
      </p:sp>
      <p:sp>
        <p:nvSpPr>
          <p:cNvPr id="13" name="Text 10"/>
          <p:cNvSpPr/>
          <p:nvPr/>
        </p:nvSpPr>
        <p:spPr>
          <a:xfrm>
            <a:off x="3827860" y="1603276"/>
            <a:ext cx="1870769" cy="233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458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Advanced Capabilities</a:t>
            </a:r>
            <a:endParaRPr lang="en-US" sz="1458" dirty="0"/>
          </a:p>
        </p:txBody>
      </p:sp>
      <p:sp>
        <p:nvSpPr>
          <p:cNvPr id="14" name="Text 11"/>
          <p:cNvSpPr/>
          <p:nvPr/>
        </p:nvSpPr>
        <p:spPr>
          <a:xfrm>
            <a:off x="3827859" y="1955602"/>
            <a:ext cx="3166468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458"/>
              </a:lnSpc>
              <a:buSzPct val="100000"/>
              <a:buChar char="•"/>
            </a:pPr>
            <a:r>
              <a:rPr lang="en-US" sz="1000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Power Management:</a:t>
            </a: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GEOPM framework for power-aware scheduling under 20 MW budget with real-time energy calculations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827859" y="2565499"/>
            <a:ext cx="3166468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458"/>
              </a:lnSpc>
              <a:buSzPct val="100000"/>
              <a:buChar char="•"/>
            </a:pPr>
            <a:r>
              <a:rPr lang="en-US" sz="1000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Storage Innovation:</a:t>
            </a: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DAOS Object Store with burst buffers and pre-fetching libraries for extreme I/O performance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827859" y="3175397"/>
            <a:ext cx="3166468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458"/>
              </a:lnSpc>
              <a:buSzPct val="100000"/>
              <a:buChar char="•"/>
            </a:pPr>
            <a:r>
              <a:rPr lang="en-US" sz="1000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Multi-OS Architecture:</a:t>
            </a: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Hybrid kernel design (fat + lightweight) optimized for extreme-scale computing workloads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827859" y="3785294"/>
            <a:ext cx="3166468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458"/>
              </a:lnSpc>
              <a:buSzPct val="100000"/>
              <a:buChar char="•"/>
            </a:pPr>
            <a:r>
              <a:rPr lang="en-US" sz="1000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Telemetry System:</a:t>
            </a: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Prometheus + VoltDB infrastructure sampling every 10 minutes (716KB/node, ~1.6 PB over 4 years)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827859" y="4395193"/>
            <a:ext cx="3166468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458"/>
              </a:lnSpc>
              <a:buSzPct val="100000"/>
              <a:buChar char="•"/>
            </a:pPr>
            <a:r>
              <a:rPr lang="en-US" sz="1000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Predictive Analytics:</a:t>
            </a: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Health modeling and reliability optimization using machine learning on telemetry data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065D1-3348-4F24-BC52-A0E0B93B8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3477788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8C231-772C-4A07-A887-502B850D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</a:t>
            </a:r>
          </a:p>
        </p:txBody>
      </p:sp>
    </p:spTree>
    <p:extLst>
      <p:ext uri="{BB962C8B-B14F-4D97-AF65-F5344CB8AC3E}">
        <p14:creationId xmlns:p14="http://schemas.microsoft.com/office/powerpoint/2010/main" val="1161650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GPU Driver Task Isolation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of mechanisms used by GPU drivers to securely and efficiently isolate user jobs on shared GPUs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GPU clusters often share one physical GPU among many jobs.</a:t>
            </a:r>
          </a:p>
          <a:p>
            <a:r>
              <a:t>Isolation prevents one job from interfering with another in terms of security, performance, or stability.</a:t>
            </a:r>
          </a:p>
          <a:p>
            <a:r>
              <a:t>Drivers and hardware enforce this with memory protection, context switching, and partitioning.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Isolation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1. Context Management – per-job GPU context (registers, queues, state)</a:t>
            </a:r>
          </a:p>
          <a:p>
            <a:r>
              <a:rPr sz="2400" dirty="0"/>
              <a:t>2. Virtual Memory – per-context page tables with IOMMU/SMMU</a:t>
            </a:r>
          </a:p>
          <a:p>
            <a:r>
              <a:rPr sz="2400" dirty="0"/>
              <a:t>3. Scheduling &amp; Partitioning – time-slicing and hardware partitioning (MIG, SR‑IOV)</a:t>
            </a:r>
          </a:p>
          <a:p>
            <a:r>
              <a:rPr sz="2400" dirty="0"/>
              <a:t>4. Command Queue Isolation – separate, validated queues</a:t>
            </a:r>
          </a:p>
          <a:p>
            <a:r>
              <a:rPr sz="2400" dirty="0"/>
              <a:t>5. Preemption &amp; Fault Containment – contain faulty kernels</a:t>
            </a:r>
          </a:p>
          <a:p>
            <a:r>
              <a:rPr sz="2400" dirty="0"/>
              <a:t>6. Host-Level Controls – containers, </a:t>
            </a:r>
            <a:r>
              <a:rPr sz="2400" dirty="0" err="1"/>
              <a:t>cgroups</a:t>
            </a:r>
            <a:r>
              <a:rPr sz="2400" dirty="0"/>
              <a:t>, schedulers restrict GPU access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Flow of GPU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Scheduler assigns a GPU partition or VF to the job</a:t>
            </a:r>
          </a:p>
          <a:p>
            <a:r>
              <a:t>2. Driver creates GPU context and maps memory</a:t>
            </a:r>
          </a:p>
          <a:p>
            <a:r>
              <a:t>3. Commands submitted to isolated queues</a:t>
            </a:r>
          </a:p>
          <a:p>
            <a:r>
              <a:t>4. GPU hardware enforces memory &amp; execution isolation</a:t>
            </a:r>
          </a:p>
          <a:p>
            <a:r>
              <a:t>5. Preemption and error handling contain faults per job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NVIDIA MIG-Based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NVIDIA Multi‑Instance GPU (MIG) partitions GPU into hardware‑isolated slices.</a:t>
            </a:r>
          </a:p>
          <a:p>
            <a:r>
              <a:t>Each slice has dedicated SMs, L2 cache, and memory.</a:t>
            </a:r>
          </a:p>
          <a:p>
            <a:r>
              <a:t>Each job’s context binds to one MIG slice, ensuring secure and predictable workload separation.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NVIDIA MIG-Based Isolation</a:t>
            </a:r>
          </a:p>
        </p:txBody>
      </p:sp>
      <p:pic>
        <p:nvPicPr>
          <p:cNvPr id="4" name="Picture 3" descr="mig_diagram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856" y="1703784"/>
            <a:ext cx="6872288" cy="515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995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 Gaudi / SR‑IOV-Based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 Gaudi GPUs use PCIe SR‑IOV to expose multiple Virtual Functions (VFs).</a:t>
            </a:r>
          </a:p>
          <a:p>
            <a:r>
              <a:t>Each VF has its own queue, DMA engine, and page tables.</a:t>
            </a:r>
          </a:p>
          <a:p>
            <a:r>
              <a:t>Jobs in containers or VMs bind to separate VFs, managed by the PF driver for secure isolation.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Intel Gaudi / SR‑IOV-Based Isolation</a:t>
            </a:r>
          </a:p>
        </p:txBody>
      </p:sp>
      <p:pic>
        <p:nvPicPr>
          <p:cNvPr id="4" name="Picture 3" descr="gaudi_diagram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1" y="1171576"/>
            <a:ext cx="7943849" cy="568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378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5EF9F-E1B4-428B-8348-BC7A0289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Interconnect Architecture Comparison</a:t>
            </a:r>
            <a:b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8CFB28-29AF-4DBE-B2DC-20BCFFA9C4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327400" y="2114550"/>
            <a:ext cx="6059488" cy="400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8071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Acronyms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GPU: Graphics Processing Unit – hardware accelerator for compute and graphics</a:t>
            </a:r>
          </a:p>
          <a:p>
            <a:r>
              <a:rPr dirty="0"/>
              <a:t>SM: Streaming Multiprocessor – core compute unit in NVIDIA GPUs</a:t>
            </a:r>
          </a:p>
          <a:p>
            <a:r>
              <a:rPr dirty="0"/>
              <a:t>HBM: High‑Bandwidth Memory – fast on‑package memory for GPUs</a:t>
            </a:r>
          </a:p>
          <a:p>
            <a:r>
              <a:rPr dirty="0"/>
              <a:t>MIG: Multi‑Instance GPU – NVIDIA feature that partitions a GPU into isolated slices</a:t>
            </a:r>
          </a:p>
          <a:p>
            <a:r>
              <a:rPr dirty="0"/>
              <a:t>SR‑IOV: Single Root I/O Virtualization – PCIe technology to virtualize a device into multiple functions</a:t>
            </a:r>
          </a:p>
          <a:p>
            <a:r>
              <a:rPr dirty="0"/>
              <a:t>VF: Virtual Function – virtualized GPU instance presented to a VM or container</a:t>
            </a:r>
          </a:p>
          <a:p>
            <a:r>
              <a:rPr dirty="0"/>
              <a:t>PF: Physical Function – host‑level GPU function managing all VFs</a:t>
            </a:r>
          </a:p>
          <a:p>
            <a:r>
              <a:rPr dirty="0"/>
              <a:t>IOMMU / SMMU: I/O Memory Management Unit / System MMU – hardware for memory protection of DMA</a:t>
            </a:r>
          </a:p>
          <a:p>
            <a:r>
              <a:rPr dirty="0"/>
              <a:t>DMA: Direct Memory Access – allows GPU to access host or device memory directly</a:t>
            </a:r>
          </a:p>
          <a:p>
            <a:r>
              <a:rPr dirty="0"/>
              <a:t>RAS: Reliability, Availability, and Serviceability – hardware error detection and reporting framework</a:t>
            </a:r>
          </a:p>
          <a:p>
            <a:r>
              <a:rPr dirty="0"/>
              <a:t>SMT / Preemption: Simultaneous Multithreading / Preemption – techniques for scheduling and isolating GPU workloads</a:t>
            </a:r>
          </a:p>
        </p:txBody>
      </p:sp>
    </p:spTree>
    <p:extLst>
      <p:ext uri="{BB962C8B-B14F-4D97-AF65-F5344CB8AC3E}">
        <p14:creationId xmlns:p14="http://schemas.microsoft.com/office/powerpoint/2010/main" val="41293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1902</Words>
  <Application>Microsoft Office PowerPoint</Application>
  <PresentationFormat>Widescreen</PresentationFormat>
  <Paragraphs>205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Backup</vt:lpstr>
      <vt:lpstr>GPU </vt:lpstr>
      <vt:lpstr>GPU Driver Task Isolation</vt:lpstr>
      <vt:lpstr>Overview</vt:lpstr>
      <vt:lpstr>Key Isolation Mechanisms</vt:lpstr>
      <vt:lpstr>Common Flow of GPU Isolation</vt:lpstr>
      <vt:lpstr>NVIDIA MIG-Based Isolation</vt:lpstr>
      <vt:lpstr>NVIDIA MIG-Based Isolation</vt:lpstr>
      <vt:lpstr>Intel Gaudi / SR‑IOV-Based Isolation</vt:lpstr>
      <vt:lpstr>Intel Gaudi / SR‑IOV-Based Isolation</vt:lpstr>
      <vt:lpstr>Interconnect Architecture Comparison </vt:lpstr>
      <vt:lpstr>Appendix: Acronyms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Giddu, Padma</dc:creator>
  <cp:lastModifiedBy>rajesh narayanan</cp:lastModifiedBy>
  <cp:revision>6</cp:revision>
  <dcterms:created xsi:type="dcterms:W3CDTF">2025-10-26T19:07:23Z</dcterms:created>
  <dcterms:modified xsi:type="dcterms:W3CDTF">2025-10-27T23:15:50Z</dcterms:modified>
</cp:coreProperties>
</file>