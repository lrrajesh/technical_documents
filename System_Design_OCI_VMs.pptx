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Design: OCI Virtual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architecture, control/data planes, lifecycle, networking, storage, security, and reliability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Goals &amp; Tenets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Fast, reliable instance provisioning at scale</a:t>
            </a:r>
          </a:p>
          <a:p>
            <a:pPr marL="0" indent="0">
              <a:buNone/>
            </a:pPr>
            <a:r>
              <a:rPr dirty="0"/>
              <a:t>• Strong isolation (noisy neighbor, security boundaries)</a:t>
            </a:r>
          </a:p>
          <a:p>
            <a:pPr marL="0" indent="0">
              <a:buNone/>
            </a:pPr>
            <a:r>
              <a:rPr dirty="0"/>
              <a:t>• Predictable performance (network/storage/CPU)</a:t>
            </a:r>
          </a:p>
          <a:p>
            <a:pPr marL="0" indent="0">
              <a:buNone/>
            </a:pPr>
            <a:r>
              <a:rPr dirty="0"/>
              <a:t>• Simple APIs with rich automation (Terraform/SDKs)</a:t>
            </a:r>
          </a:p>
          <a:p>
            <a:pPr marL="0" indent="0">
              <a:buNone/>
            </a:pPr>
            <a:r>
              <a:rPr dirty="0"/>
              <a:t>• Cost transparency and efficient capacity utilization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(OCI)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Regions, Availability Domains (ADs), Fault Domains (FDs)</a:t>
            </a:r>
          </a:p>
          <a:p>
            <a:pPr marL="0" indent="0">
              <a:buNone/>
            </a:pPr>
            <a:r>
              <a:rPr dirty="0"/>
              <a:t>• Compartments &amp; IAM policies for tenancy isolation</a:t>
            </a:r>
          </a:p>
          <a:p>
            <a:pPr marL="0" indent="0">
              <a:buNone/>
            </a:pPr>
            <a:r>
              <a:rPr dirty="0"/>
              <a:t>• Shapes (CPU/Mem/Accel profiles) and Images (platform/custom)</a:t>
            </a:r>
          </a:p>
          <a:p>
            <a:pPr marL="0" indent="0">
              <a:buNone/>
            </a:pPr>
            <a:r>
              <a:rPr dirty="0"/>
              <a:t>• VCNs, Subnets, Security Lists/NSGs, DRG, Load Balancers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Control Plane:</a:t>
            </a:r>
          </a:p>
          <a:p>
            <a:pPr marL="0" indent="0">
              <a:buNone/>
            </a:pPr>
            <a:r>
              <a:rPr sz="2400" dirty="0"/>
              <a:t>• Public/Private APIs, IAM, </a:t>
            </a:r>
            <a:r>
              <a:rPr sz="2400" dirty="0" err="1"/>
              <a:t>AuthZ</a:t>
            </a:r>
            <a:r>
              <a:rPr sz="2400" dirty="0"/>
              <a:t> (policy eval)</a:t>
            </a:r>
          </a:p>
          <a:p>
            <a:pPr marL="0" indent="0">
              <a:buNone/>
            </a:pPr>
            <a:r>
              <a:rPr sz="2400" dirty="0"/>
              <a:t>• Instance Orchestrator/Scheduler &amp; Quota Manager</a:t>
            </a:r>
          </a:p>
          <a:p>
            <a:pPr marL="0" indent="0">
              <a:buNone/>
            </a:pPr>
            <a:r>
              <a:rPr sz="2400" dirty="0"/>
              <a:t>• Image/Artifact service, Metadata service</a:t>
            </a:r>
          </a:p>
          <a:p>
            <a:pPr marL="0" indent="0">
              <a:buNone/>
            </a:pPr>
            <a:r>
              <a:rPr sz="2400" dirty="0"/>
              <a:t>• Fleet/Health controllers, Capacity management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Data Plane:</a:t>
            </a:r>
          </a:p>
          <a:p>
            <a:pPr marL="0" indent="0">
              <a:buNone/>
            </a:pPr>
            <a:r>
              <a:rPr sz="2400" dirty="0"/>
              <a:t>• Hypervisor hosts (Type-1/KVM-class)</a:t>
            </a:r>
          </a:p>
          <a:p>
            <a:pPr marL="0" indent="0">
              <a:buNone/>
            </a:pPr>
            <a:r>
              <a:rPr sz="2400" dirty="0"/>
              <a:t>• Local/</a:t>
            </a:r>
            <a:r>
              <a:rPr sz="2400" dirty="0" err="1"/>
              <a:t>NVMe</a:t>
            </a:r>
            <a:r>
              <a:rPr sz="2400" dirty="0"/>
              <a:t> &amp; remote Block Volume (iSCSI/</a:t>
            </a:r>
            <a:r>
              <a:rPr sz="2400" dirty="0" err="1"/>
              <a:t>NVMeoF</a:t>
            </a:r>
            <a:r>
              <a:rPr sz="2400" dirty="0"/>
              <a:t>)</a:t>
            </a:r>
          </a:p>
          <a:p>
            <a:pPr marL="0" indent="0">
              <a:buNone/>
            </a:pPr>
            <a:r>
              <a:rPr sz="2400" dirty="0"/>
              <a:t>• SDN fabric (</a:t>
            </a:r>
            <a:r>
              <a:rPr sz="2400" dirty="0" err="1"/>
              <a:t>vSwitch</a:t>
            </a:r>
            <a:r>
              <a:rPr sz="2400" dirty="0"/>
              <a:t>/SR-IOV </a:t>
            </a:r>
            <a:r>
              <a:rPr sz="2400" dirty="0" err="1"/>
              <a:t>vNICs</a:t>
            </a:r>
            <a:r>
              <a:rPr sz="2400" dirty="0"/>
              <a:t>)</a:t>
            </a:r>
          </a:p>
          <a:p>
            <a:pPr marL="0" indent="0">
              <a:buNone/>
            </a:pPr>
            <a:r>
              <a:rPr sz="2400" dirty="0"/>
              <a:t>• Storage backends &amp; LB/NAT gateways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Instance Lifecycle: Provision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1) API/SDK/TF request → </a:t>
            </a:r>
            <a:r>
              <a:rPr sz="2400" dirty="0" err="1"/>
              <a:t>AuthN</a:t>
            </a:r>
            <a:r>
              <a:rPr sz="2400" dirty="0"/>
              <a:t>/Z + policy check</a:t>
            </a:r>
          </a:p>
          <a:p>
            <a:pPr marL="0" indent="0">
              <a:buNone/>
            </a:pPr>
            <a:r>
              <a:rPr sz="2400" dirty="0"/>
              <a:t>2) Quota/capacity check (shape, AD/FD, GPU/</a:t>
            </a:r>
            <a:r>
              <a:rPr sz="2400" dirty="0" err="1"/>
              <a:t>NVMe</a:t>
            </a:r>
            <a:r>
              <a:rPr sz="2400" dirty="0"/>
              <a:t> availability)</a:t>
            </a:r>
          </a:p>
          <a:p>
            <a:pPr marL="0" indent="0">
              <a:buNone/>
            </a:pPr>
            <a:r>
              <a:rPr sz="2400" dirty="0"/>
              <a:t>3) Scheduler picks host (placement, affinity/anti-affinity)</a:t>
            </a:r>
          </a:p>
          <a:p>
            <a:pPr marL="0" indent="0">
              <a:buNone/>
            </a:pPr>
            <a:r>
              <a:rPr sz="2400" dirty="0"/>
              <a:t>4) Image fetch &amp; boot volume creation</a:t>
            </a:r>
          </a:p>
          <a:p>
            <a:pPr marL="0" indent="0">
              <a:buNone/>
            </a:pPr>
            <a:r>
              <a:rPr sz="2400" dirty="0"/>
              <a:t>5) Network attach (</a:t>
            </a:r>
            <a:r>
              <a:rPr sz="2400" dirty="0" err="1"/>
              <a:t>vNICs</a:t>
            </a:r>
            <a:r>
              <a:rPr sz="2400" dirty="0"/>
              <a:t>, security groups, routes)</a:t>
            </a:r>
          </a:p>
          <a:p>
            <a:pPr marL="0" indent="0">
              <a:buNone/>
            </a:pPr>
            <a:r>
              <a:rPr sz="2400" dirty="0"/>
              <a:t>6) Cloud-</a:t>
            </a:r>
            <a:r>
              <a:rPr sz="2400" dirty="0" err="1"/>
              <a:t>init</a:t>
            </a:r>
            <a:r>
              <a:rPr sz="2400" dirty="0"/>
              <a:t>/metadata finalize → instance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Instance Lifecycle: Run &amp; Manage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Start/Stop/Terminate, Reboot, Serial console</a:t>
            </a:r>
          </a:p>
          <a:p>
            <a:pPr marL="0" indent="0">
              <a:buNone/>
            </a:pPr>
            <a:r>
              <a:rPr dirty="0"/>
              <a:t>• Resize (shape change) via </a:t>
            </a:r>
            <a:r>
              <a:rPr dirty="0" err="1"/>
              <a:t>stop→re-provision→start</a:t>
            </a:r>
            <a:r>
              <a:rPr dirty="0"/>
              <a:t> pattern</a:t>
            </a:r>
          </a:p>
          <a:p>
            <a:pPr marL="0" indent="0">
              <a:buNone/>
            </a:pPr>
            <a:r>
              <a:rPr dirty="0"/>
              <a:t>• Attach/detach Block Volumes (multi-attach read-only/ROX)</a:t>
            </a:r>
          </a:p>
          <a:p>
            <a:pPr marL="0" indent="0">
              <a:buNone/>
            </a:pPr>
            <a:r>
              <a:rPr dirty="0"/>
              <a:t>• Backup/Restore boot &amp; block volumes (policy-based)</a:t>
            </a:r>
          </a:p>
          <a:p>
            <a:pPr marL="0" indent="0">
              <a:buNone/>
            </a:pPr>
            <a:r>
              <a:rPr dirty="0"/>
              <a:t>• Live migration/evacuation (host maintenance)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VCN with regional subnets; route tables to IGW/NAT/DRG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vNIC</a:t>
            </a:r>
            <a:r>
              <a:rPr dirty="0"/>
              <a:t> implementation via SR-IOV or </a:t>
            </a:r>
            <a:r>
              <a:rPr dirty="0" err="1"/>
              <a:t>virtio</a:t>
            </a:r>
            <a:r>
              <a:rPr dirty="0"/>
              <a:t> on </a:t>
            </a:r>
            <a:r>
              <a:rPr dirty="0" err="1"/>
              <a:t>vSwitch</a:t>
            </a:r>
            <a:endParaRPr dirty="0"/>
          </a:p>
          <a:p>
            <a:pPr marL="0" indent="0">
              <a:buNone/>
            </a:pPr>
            <a:r>
              <a:rPr dirty="0"/>
              <a:t>• Security Lists/NSGs for 5‑tuple filtering</a:t>
            </a:r>
          </a:p>
          <a:p>
            <a:pPr marL="0" indent="0">
              <a:buNone/>
            </a:pPr>
            <a:r>
              <a:rPr dirty="0"/>
              <a:t>• Load Balancer (public/private), NLB for L4</a:t>
            </a:r>
          </a:p>
          <a:p>
            <a:pPr marL="0" indent="0">
              <a:buNone/>
            </a:pPr>
            <a:r>
              <a:rPr dirty="0"/>
              <a:t>• For GPU/HPC: high-bandwidth fabric with RoCEv2 where applicable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Boot Volume from images (platform or custom)</a:t>
            </a:r>
          </a:p>
          <a:p>
            <a:pPr marL="0" indent="0">
              <a:buNone/>
            </a:pPr>
            <a:r>
              <a:rPr dirty="0"/>
              <a:t>• Block Volume service (durable, replicated across AD or multi-AD)</a:t>
            </a:r>
          </a:p>
          <a:p>
            <a:pPr marL="0" indent="0">
              <a:buNone/>
            </a:pPr>
            <a:r>
              <a:rPr dirty="0"/>
              <a:t>• Local </a:t>
            </a:r>
            <a:r>
              <a:rPr dirty="0" err="1"/>
              <a:t>NVMe</a:t>
            </a:r>
            <a:r>
              <a:rPr dirty="0"/>
              <a:t> on host for high IOPS/low latency (ephemeral)</a:t>
            </a:r>
          </a:p>
          <a:p>
            <a:pPr marL="0" indent="0">
              <a:buNone/>
            </a:pPr>
            <a:r>
              <a:rPr dirty="0"/>
              <a:t>• Object Storage for images/snapshots/backups</a:t>
            </a:r>
          </a:p>
          <a:p>
            <a:pPr marL="0" indent="0">
              <a:buNone/>
            </a:pPr>
            <a:r>
              <a:rPr dirty="0"/>
              <a:t>• Performance tiers &amp; QoS throttling to prevent noisy neighbors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 Host &amp;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Type-1/KVM-class hypervisor; </a:t>
            </a:r>
            <a:r>
              <a:rPr dirty="0" err="1"/>
              <a:t>cgroup</a:t>
            </a:r>
            <a:r>
              <a:rPr dirty="0"/>
              <a:t>/</a:t>
            </a:r>
            <a:r>
              <a:rPr dirty="0" err="1"/>
              <a:t>numa</a:t>
            </a:r>
            <a:r>
              <a:rPr dirty="0"/>
              <a:t> pinning for determinism</a:t>
            </a:r>
          </a:p>
          <a:p>
            <a:pPr marL="0" indent="0">
              <a:buNone/>
            </a:pPr>
            <a:r>
              <a:rPr dirty="0"/>
              <a:t>• vCPU scheduling, </a:t>
            </a:r>
            <a:r>
              <a:rPr dirty="0" err="1"/>
              <a:t>hugepages</a:t>
            </a:r>
            <a:r>
              <a:rPr dirty="0"/>
              <a:t>; dedicated/CPU-pinned shapes</a:t>
            </a:r>
          </a:p>
          <a:p>
            <a:pPr marL="0" indent="0">
              <a:buNone/>
            </a:pPr>
            <a:r>
              <a:rPr dirty="0"/>
              <a:t>• Device isolation: SR-IOV for NICs; mediated pass-through/MIG for GPUs</a:t>
            </a:r>
          </a:p>
          <a:p>
            <a:pPr marL="0" indent="0">
              <a:buNone/>
            </a:pPr>
            <a:r>
              <a:rPr dirty="0"/>
              <a:t>• Secure boot &amp; measured boot; firmware baseline &amp; attestation</a:t>
            </a:r>
          </a:p>
          <a:p>
            <a:pPr marL="0" indent="0">
              <a:buNone/>
            </a:pPr>
            <a:r>
              <a:rPr dirty="0"/>
              <a:t>• Per-tenant key isolation for volume encryption (Vault/KMS)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Compartments + IAM policies control resource access</a:t>
            </a:r>
          </a:p>
          <a:p>
            <a:pPr marL="0" indent="0">
              <a:buNone/>
            </a:pPr>
            <a:r>
              <a:rPr dirty="0"/>
              <a:t>• Security Lists/NSGs enforce network policy; Flow logs</a:t>
            </a:r>
          </a:p>
          <a:p>
            <a:pPr marL="0" indent="0">
              <a:buNone/>
            </a:pPr>
            <a:r>
              <a:rPr dirty="0"/>
              <a:t>• Image signing, OS hardening; customer-managed keys (CMK)</a:t>
            </a:r>
          </a:p>
          <a:p>
            <a:pPr marL="0" indent="0">
              <a:buNone/>
            </a:pPr>
            <a:r>
              <a:rPr dirty="0"/>
              <a:t>• Instance metadata/IMDS access scoped &amp; rate-limited</a:t>
            </a:r>
          </a:p>
          <a:p>
            <a:pPr marL="0" indent="0">
              <a:buNone/>
            </a:pPr>
            <a:r>
              <a:rPr dirty="0"/>
              <a:t>• Audit logs for API calls; Cloud Guard-style posture checks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Host failure handling: instance auto-recovery &amp; reboot policies</a:t>
            </a:r>
          </a:p>
          <a:p>
            <a:pPr marL="0" indent="0">
              <a:buNone/>
            </a:pPr>
            <a:r>
              <a:rPr dirty="0"/>
              <a:t>• Maintenance: live migration or scheduled reboot; canary waves</a:t>
            </a:r>
          </a:p>
          <a:p>
            <a:pPr marL="0" indent="0">
              <a:buNone/>
            </a:pPr>
            <a:r>
              <a:rPr dirty="0"/>
              <a:t>• Capacity shuffle &amp; placement balancing across FDs</a:t>
            </a:r>
          </a:p>
          <a:p>
            <a:pPr marL="0" indent="0">
              <a:buNone/>
            </a:pPr>
            <a:r>
              <a:rPr dirty="0"/>
              <a:t>• Firmware/BIOS/BMC lifecycle with staged rollouts and blast-radius limits</a:t>
            </a:r>
          </a:p>
          <a:p>
            <a:pPr marL="0" indent="0">
              <a:buNone/>
            </a:pPr>
            <a:r>
              <a:rPr dirty="0"/>
              <a:t>• SLOs: launch latency, VM availability, API success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Autoscaling &amp; Fleet 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Instance Pools + Autoscaling policies (CPU, metrics, schedules)</a:t>
            </a:r>
          </a:p>
          <a:p>
            <a:pPr marL="0" indent="0">
              <a:buNone/>
            </a:pPr>
            <a:r>
              <a:rPr dirty="0"/>
              <a:t>• Golden-image bake pipeline + cloud-</a:t>
            </a:r>
            <a:r>
              <a:rPr dirty="0" err="1"/>
              <a:t>init</a:t>
            </a:r>
            <a:r>
              <a:rPr dirty="0"/>
              <a:t> for config</a:t>
            </a:r>
          </a:p>
          <a:p>
            <a:pPr marL="0" indent="0">
              <a:buNone/>
            </a:pPr>
            <a:r>
              <a:rPr dirty="0"/>
              <a:t>• Health checks &amp; replacement; rolling/blue‑green deployments</a:t>
            </a:r>
          </a:p>
          <a:p>
            <a:pPr marL="0" indent="0">
              <a:buNone/>
            </a:pPr>
            <a:r>
              <a:rPr dirty="0"/>
              <a:t>• Observability: metrics (CPU, disk IOPS, net </a:t>
            </a:r>
            <a:r>
              <a:rPr dirty="0" err="1"/>
              <a:t>bw</a:t>
            </a:r>
            <a:r>
              <a:rPr dirty="0"/>
              <a:t>), logs, traces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Scheduler &amp; 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Inputs: shape, AD/FD, affinity rules, quotas, host inventory</a:t>
            </a:r>
          </a:p>
          <a:p>
            <a:r>
              <a:t>Constraints: CPU/RAM/NUMA, NIC queues, GPU slots, NVMe lanes</a:t>
            </a:r>
          </a:p>
          <a:p>
            <a:r>
              <a:t>Goals: bin‑packing with anti‑affinity, minimizing fragmentation, locality to storage/LB</a:t>
            </a:r>
          </a:p>
          <a:p>
            <a:r>
              <a:t>Preemption/oversubscription policies for burstable pools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&amp; Performance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Shape families &amp; OCPUs; flexible VM shapes</a:t>
            </a:r>
          </a:p>
          <a:p>
            <a:pPr marL="0" indent="0">
              <a:buNone/>
            </a:pPr>
            <a:r>
              <a:rPr dirty="0"/>
              <a:t>• Network bandwidth caps per shape; egress accounting</a:t>
            </a:r>
          </a:p>
          <a:p>
            <a:pPr marL="0" indent="0">
              <a:buNone/>
            </a:pPr>
            <a:r>
              <a:rPr dirty="0"/>
              <a:t>• Block volume performance levels; throttling/backpressure</a:t>
            </a:r>
          </a:p>
          <a:p>
            <a:pPr marL="0" indent="0">
              <a:buNone/>
            </a:pPr>
            <a:r>
              <a:rPr dirty="0"/>
              <a:t>• Spot/preemptible instances for lower cost tiers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Scenarios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Host crash → evacuate/migrate/restart in same AD/FD</a:t>
            </a:r>
          </a:p>
          <a:p>
            <a:pPr marL="0" indent="0">
              <a:buNone/>
            </a:pPr>
            <a:r>
              <a:rPr dirty="0"/>
              <a:t>• AZ/AD outage → multi-AD design; cross-AD backups and NLB</a:t>
            </a:r>
          </a:p>
          <a:p>
            <a:pPr marL="0" indent="0">
              <a:buNone/>
            </a:pPr>
            <a:r>
              <a:rPr dirty="0"/>
              <a:t>• Control plane degradation → rate limiting, retries, idempotency tokens</a:t>
            </a:r>
          </a:p>
          <a:p>
            <a:pPr marL="0" indent="0">
              <a:buNone/>
            </a:pPr>
            <a:r>
              <a:rPr dirty="0"/>
              <a:t>• Noisy neighbor → per-tenant QoS on CPU, net, storage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&amp; Resource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resources: Instance, Image, Shape, VNIC, Subnet, VCN, BlockVolume, VolumeAttachment, InstancePool</a:t>
            </a:r>
          </a:p>
          <a:p>
            <a:r>
              <a:t>Idempotency via retry tokens; async work requests + lifecycle states</a:t>
            </a:r>
          </a:p>
          <a:p>
            <a:r>
              <a:t>Strong eventual consistency with read‑your‑writes in same region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3‑tier app: public LB → app VMs in private subnets → DB on BM/DBaaS</a:t>
            </a:r>
          </a:p>
          <a:p>
            <a:pPr marL="0" indent="0">
              <a:buNone/>
            </a:pPr>
            <a:r>
              <a:rPr dirty="0"/>
              <a:t>• GPU training: VM.GPU shapes with </a:t>
            </a:r>
            <a:r>
              <a:rPr dirty="0" err="1"/>
              <a:t>RoCE</a:t>
            </a:r>
            <a:r>
              <a:rPr dirty="0"/>
              <a:t> fabric; </a:t>
            </a:r>
            <a:r>
              <a:rPr dirty="0" err="1"/>
              <a:t>NVMe</a:t>
            </a:r>
            <a:r>
              <a:rPr dirty="0"/>
              <a:t> scratch + BV for checkpoints</a:t>
            </a:r>
          </a:p>
          <a:p>
            <a:pPr marL="0" indent="0">
              <a:buNone/>
            </a:pPr>
            <a:r>
              <a:rPr dirty="0"/>
              <a:t>• NFV: SR‑IOV </a:t>
            </a:r>
            <a:r>
              <a:rPr dirty="0" err="1"/>
              <a:t>vNICs</a:t>
            </a:r>
            <a:r>
              <a:rPr dirty="0"/>
              <a:t>, DPDK, NLB; pinned CPU shapes</a:t>
            </a:r>
          </a:p>
          <a:p>
            <a:pPr marL="0" indent="0">
              <a:buNone/>
            </a:pPr>
            <a:r>
              <a:rPr dirty="0"/>
              <a:t>• HPC burst: placement groups, low‑jitter networking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Runbook (Excerpt)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Golden image bake → Image publish per region</a:t>
            </a:r>
          </a:p>
          <a:p>
            <a:pPr marL="0" indent="0">
              <a:buNone/>
            </a:pPr>
            <a:r>
              <a:rPr dirty="0"/>
              <a:t>• Preflight: quota check, capacity forecast, warm pools</a:t>
            </a:r>
          </a:p>
          <a:p>
            <a:pPr marL="0" indent="0">
              <a:buNone/>
            </a:pPr>
            <a:r>
              <a:rPr dirty="0"/>
              <a:t>• Canary: 1%, 10%, 50%, 100% rollout with health gates</a:t>
            </a:r>
          </a:p>
          <a:p>
            <a:pPr marL="0" indent="0">
              <a:buNone/>
            </a:pPr>
            <a:r>
              <a:rPr dirty="0"/>
              <a:t>• Alarms: API error rate, launch latency p95, host repair queue depth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Questions for Design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Live migration support boundaries per shape?</a:t>
            </a:r>
          </a:p>
          <a:p>
            <a:pPr marL="0" indent="0">
              <a:buNone/>
            </a:pPr>
            <a:r>
              <a:rPr dirty="0"/>
              <a:t>• Spot instance eviction signals &amp; grace periods?</a:t>
            </a:r>
          </a:p>
          <a:p>
            <a:pPr marL="0" indent="0">
              <a:buNone/>
            </a:pPr>
            <a:r>
              <a:rPr dirty="0"/>
              <a:t>• Default IMDS v2 policy and hop limits?</a:t>
            </a:r>
          </a:p>
          <a:p>
            <a:pPr marL="0" indent="0">
              <a:buNone/>
            </a:pPr>
            <a:r>
              <a:rPr dirty="0"/>
              <a:t>• GPU partitioning SKUs and isolation model for </a:t>
            </a:r>
            <a:r>
              <a:rPr dirty="0" err="1"/>
              <a:t>RoCE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6862</TotalTime>
  <Words>1060</Words>
  <Application>Microsoft Office PowerPoint</Application>
  <PresentationFormat>On-screen Show (4:3)</PresentationFormat>
  <Paragraphs>107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System Design: OCI Virtual Machines</vt:lpstr>
      <vt:lpstr>Product Goals &amp; Tenets</vt:lpstr>
      <vt:lpstr>Core Concepts (OCI)</vt:lpstr>
      <vt:lpstr>High-Level Architecture</vt:lpstr>
      <vt:lpstr>Instance Lifecycle: Provision</vt:lpstr>
      <vt:lpstr>Instance Lifecycle: Run &amp; Manage</vt:lpstr>
      <vt:lpstr>Networking Design</vt:lpstr>
      <vt:lpstr>Storage Design</vt:lpstr>
      <vt:lpstr>Compute Host &amp; Isolation</vt:lpstr>
      <vt:lpstr>Security Architecture</vt:lpstr>
      <vt:lpstr>Reliability &amp; Maintenance</vt:lpstr>
      <vt:lpstr>Autoscaling &amp; Fleet Ops</vt:lpstr>
      <vt:lpstr>Scheduler &amp; Placement</vt:lpstr>
      <vt:lpstr>Cost &amp; Performance Controls</vt:lpstr>
      <vt:lpstr>Failure Scenarios &amp; Mitigations</vt:lpstr>
      <vt:lpstr>API &amp; Resource Model</vt:lpstr>
      <vt:lpstr>Reference Patterns</vt:lpstr>
      <vt:lpstr>Operations Runbook (Excerpt)</vt:lpstr>
      <vt:lpstr>Open Questions for Design 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Design: OCI Virtual Machines</dc:title>
  <dc:subject/>
  <dc:creator/>
  <cp:keywords/>
  <dc:description>generated using python-pptx</dc:description>
  <cp:lastModifiedBy>rajesh narayanan</cp:lastModifiedBy>
  <cp:revision>5</cp:revision>
  <dcterms:created xsi:type="dcterms:W3CDTF">2013-01-27T09:14:16Z</dcterms:created>
  <dcterms:modified xsi:type="dcterms:W3CDTF">2025-11-03T18:19:29Z</dcterms:modified>
  <cp:category/>
</cp:coreProperties>
</file>