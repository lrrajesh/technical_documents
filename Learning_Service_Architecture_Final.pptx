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Learning Service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End-to-End System Overview</a:t>
            </a:r>
          </a:p>
          <a:p>
            <a:r>
              <a:t>Prepared by Rajesh Narayanan | October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212121"/>
                </a:solidFill>
              </a:rPr>
              <a:t>Learning Service Architecture | October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212121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12121"/>
                </a:solidFill>
              </a:defRPr>
            </a:pPr>
            <a:r>
              <a:t>Consolidated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828800"/>
            <a:ext cx="1463040" cy="822960"/>
          </a:xfrm>
          <a:prstGeom prst="roundRect">
            <a:avLst/>
          </a:prstGeom>
          <a:solidFill>
            <a:srgbClr val="2D71B2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Auth Service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828800"/>
            <a:ext cx="1645920" cy="822960"/>
          </a:xfrm>
          <a:prstGeom prst="roundRect">
            <a:avLst/>
          </a:prstGeom>
          <a:solidFill>
            <a:srgbClr val="2D71B2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API Gateway / Learning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828800"/>
            <a:ext cx="1828800" cy="822960"/>
          </a:xfrm>
          <a:prstGeom prst="roundRect">
            <a:avLst/>
          </a:prstGeom>
          <a:solidFill>
            <a:srgbClr val="2D71B2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Control Plane Services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828800"/>
            <a:ext cx="1828800" cy="822960"/>
          </a:xfrm>
          <a:prstGeom prst="roundRect">
            <a:avLst/>
          </a:prstGeom>
          <a:solidFill>
            <a:srgbClr val="26A6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Data Plane (User Sessions)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828800"/>
            <a:ext cx="1828800" cy="822960"/>
          </a:xfrm>
          <a:prstGeom prst="roundRect">
            <a:avLst/>
          </a:prstGeom>
          <a:solidFill>
            <a:srgbClr val="6E777D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Storage (CSI • PV • Backend)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640080"/>
            <a:ext cx="2011680" cy="731520"/>
          </a:xfrm>
          <a:prstGeom prst="roundRect">
            <a:avLst/>
          </a:prstGeom>
          <a:solidFill>
            <a:srgbClr val="E67E22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Security &amp; Monitoring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80160" y="2697480"/>
            <a:ext cx="1005840" cy="0"/>
          </a:xfrm>
          <a:prstGeom prst="line">
            <a:avLst/>
          </a:prstGeom>
          <a:ln w="222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34440" y="2514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12121"/>
                </a:solidFill>
              </a:rPr>
              <a:t>authenticate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08960" y="2697480"/>
            <a:ext cx="1097280" cy="0"/>
          </a:xfrm>
          <a:prstGeom prst="line">
            <a:avLst/>
          </a:prstGeom>
          <a:ln w="222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108960" y="2514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12121"/>
                </a:solidFill>
              </a:rPr>
              <a:t>route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120640" y="2697480"/>
            <a:ext cx="1280160" cy="0"/>
          </a:xfrm>
          <a:prstGeom prst="line">
            <a:avLst/>
          </a:prstGeom>
          <a:ln w="222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212080" y="2514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12121"/>
                </a:solidFill>
              </a:rPr>
              <a:t>session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0" y="2697480"/>
            <a:ext cx="1188720" cy="0"/>
          </a:xfrm>
          <a:prstGeom prst="line">
            <a:avLst/>
          </a:prstGeom>
          <a:ln w="222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60920" y="2514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12121"/>
                </a:solidFill>
              </a:rPr>
              <a:t>provision/mount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0800" y="1005840"/>
            <a:ext cx="0" cy="822960"/>
          </a:xfrm>
          <a:prstGeom prst="line">
            <a:avLst/>
          </a:prstGeom>
          <a:ln w="22225">
            <a:solidFill>
              <a:srgbClr val="5A5A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52160" y="12344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12121"/>
                </a:solidFill>
              </a:rPr>
              <a:t>mTLS/metrics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8404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212121"/>
                </a:solidFill>
              </a:defRPr>
            </a:pPr>
            <a:r>
              <a:t>Legend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06240"/>
            <a:ext cx="822960" cy="411480"/>
          </a:xfrm>
          <a:prstGeom prst="roundRect">
            <a:avLst/>
          </a:prstGeom>
          <a:solidFill>
            <a:srgbClr val="2D71B2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Control Plane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54480" y="4206240"/>
            <a:ext cx="822960" cy="411480"/>
          </a:xfrm>
          <a:prstGeom prst="roundRect">
            <a:avLst/>
          </a:prstGeom>
          <a:solidFill>
            <a:srgbClr val="26A6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Data Plane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60320" y="4206240"/>
            <a:ext cx="822960" cy="411480"/>
          </a:xfrm>
          <a:prstGeom prst="roundRect">
            <a:avLst/>
          </a:prstGeom>
          <a:solidFill>
            <a:srgbClr val="6E777D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Storage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66160" y="4206240"/>
            <a:ext cx="822960" cy="411480"/>
          </a:xfrm>
          <a:prstGeom prst="roundRect">
            <a:avLst/>
          </a:prstGeom>
          <a:solidFill>
            <a:srgbClr val="E67E22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Security/Mon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8521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12121"/>
                </a:solidFill>
              </a:rPr>
              <a:t>Figure 1: Consolidated end-to-end architecture overview with service-type legend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212121"/>
                </a:solidFill>
              </a:rPr>
              <a:t>Learning Service Architecture | October 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212121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12121"/>
                </a:solidFill>
              </a:defRPr>
            </a:pPr>
            <a:r>
              <a:t>Learning Service Architecture (Control &amp; Data Plane)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2926080" cy="1097280"/>
          </a:xfrm>
          <a:prstGeom prst="roundRect">
            <a:avLst/>
          </a:prstGeom>
          <a:solidFill>
            <a:srgbClr val="2D71B2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Control Plane Services
(JupyterHub • Scheduler • Proxy)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828800"/>
            <a:ext cx="2926080" cy="1097280"/>
          </a:xfrm>
          <a:prstGeom prst="roundRect">
            <a:avLst/>
          </a:prstGeom>
          <a:solidFill>
            <a:srgbClr val="26A6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Data Plane
(User Pods • Sessions)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828800"/>
            <a:ext cx="2103120" cy="1097280"/>
          </a:xfrm>
          <a:prstGeom prst="roundRect">
            <a:avLst/>
          </a:prstGeom>
          <a:solidFill>
            <a:srgbClr val="6E777D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Storage
(CSI • PV • Backend)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40480" y="2377440"/>
            <a:ext cx="731520" cy="0"/>
          </a:xfrm>
          <a:prstGeom prst="line">
            <a:avLst/>
          </a:prstGeom>
          <a:ln w="222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657599" y="21945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12121"/>
                </a:solidFill>
              </a:rPr>
              <a:t>launch/session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498079" y="2377440"/>
            <a:ext cx="731521" cy="0"/>
          </a:xfrm>
          <a:prstGeom prst="line">
            <a:avLst/>
          </a:prstGeom>
          <a:ln w="222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0" y="21945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12121"/>
                </a:solidFill>
              </a:rPr>
              <a:t>PVC/PV mount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521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12121"/>
                </a:solidFill>
              </a:rPr>
              <a:t>Figure 2: Control and data plane interactions for session lifecycle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212121"/>
                </a:solidFill>
              </a:rPr>
              <a:t>Learning Service Architecture | October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212121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12121"/>
                </a:solidFill>
              </a:defRPr>
            </a:pPr>
            <a:r>
              <a:t>User Registration &amp; API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011680"/>
            <a:ext cx="1828800" cy="914400"/>
          </a:xfrm>
          <a:prstGeom prst="roundRect">
            <a:avLst/>
          </a:prstGeom>
          <a:solidFill>
            <a:srgbClr val="2D71B2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Auth Service
(Azure AD / Cognito)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2011680"/>
            <a:ext cx="2011680" cy="914400"/>
          </a:xfrm>
          <a:prstGeom prst="roundRect">
            <a:avLst/>
          </a:prstGeom>
          <a:solidFill>
            <a:srgbClr val="2D71B2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API Gateway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0" y="2011680"/>
            <a:ext cx="2011680" cy="914400"/>
          </a:xfrm>
          <a:prstGeom prst="roundRect">
            <a:avLst/>
          </a:prstGeom>
          <a:solidFill>
            <a:srgbClr val="2D71B2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Learning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2011680"/>
            <a:ext cx="2011680" cy="914400"/>
          </a:xfrm>
          <a:prstGeom prst="roundRect">
            <a:avLst/>
          </a:prstGeom>
          <a:solidFill>
            <a:srgbClr val="6E777D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Database Service
(RDS-like)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51760" y="2468880"/>
            <a:ext cx="274320" cy="0"/>
          </a:xfrm>
          <a:prstGeom prst="line">
            <a:avLst/>
          </a:prstGeom>
          <a:ln w="222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40279" y="22860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12121"/>
                </a:solidFill>
              </a:rPr>
              <a:t>token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937760" y="2468880"/>
            <a:ext cx="365760" cy="0"/>
          </a:xfrm>
          <a:prstGeom prst="line">
            <a:avLst/>
          </a:prstGeom>
          <a:ln w="222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0" y="22860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12121"/>
                </a:solidFill>
              </a:rPr>
              <a:t>route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0" y="2468880"/>
            <a:ext cx="457200" cy="0"/>
          </a:xfrm>
          <a:prstGeom prst="line">
            <a:avLst/>
          </a:prstGeom>
          <a:ln w="222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995160" y="22860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12121"/>
                </a:solidFill>
              </a:rPr>
              <a:t>persist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521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12121"/>
                </a:solidFill>
              </a:rPr>
              <a:t>Figure 3: Registration and API request path with authentication and data persistence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212121"/>
                </a:solidFill>
              </a:rPr>
              <a:t>Learning Service Architecture | October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212121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12121"/>
                </a:solidFill>
              </a:defRPr>
            </a:pPr>
            <a:r>
              <a:t>Dynamic Volume Provisioning (CSI)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828800" cy="914400"/>
          </a:xfrm>
          <a:prstGeom prst="roundRect">
            <a:avLst/>
          </a:prstGeom>
          <a:solidFill>
            <a:srgbClr val="26A6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PVC Request
(from Jupyter)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828800"/>
            <a:ext cx="1828800" cy="914400"/>
          </a:xfrm>
          <a:prstGeom prst="roundRect">
            <a:avLst/>
          </a:prstGeom>
          <a:solidFill>
            <a:srgbClr val="2D71B2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StorageClass
(K8s)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0" y="1828800"/>
            <a:ext cx="1828800" cy="914400"/>
          </a:xfrm>
          <a:prstGeom prst="roundRect">
            <a:avLst/>
          </a:prstGeom>
          <a:solidFill>
            <a:srgbClr val="6E777D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CSI Driver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828800"/>
            <a:ext cx="1828800" cy="914400"/>
          </a:xfrm>
          <a:prstGeom prst="roundRect">
            <a:avLst/>
          </a:prstGeom>
          <a:solidFill>
            <a:srgbClr val="6E777D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Persistent Volume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828800"/>
            <a:ext cx="1828800" cy="914400"/>
          </a:xfrm>
          <a:prstGeom prst="roundRect">
            <a:avLst/>
          </a:prstGeom>
          <a:solidFill>
            <a:srgbClr val="26A6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User Pod
(Session)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0" y="2286000"/>
            <a:ext cx="182880" cy="0"/>
          </a:xfrm>
          <a:prstGeom prst="line">
            <a:avLst/>
          </a:prstGeom>
          <a:ln w="222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86000" y="21031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12121"/>
                </a:solidFill>
              </a:rPr>
              <a:t>create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754880" y="2286000"/>
            <a:ext cx="182880" cy="0"/>
          </a:xfrm>
          <a:prstGeom prst="line">
            <a:avLst/>
          </a:prstGeom>
          <a:ln w="222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97680" y="21031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12121"/>
                </a:solidFill>
              </a:rPr>
              <a:t>provision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766560" y="2286000"/>
            <a:ext cx="182880" cy="0"/>
          </a:xfrm>
          <a:prstGeom prst="line">
            <a:avLst/>
          </a:prstGeom>
          <a:ln w="222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309360" y="21031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12121"/>
                </a:solidFill>
              </a:rPr>
              <a:t>bind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78240" y="2286000"/>
            <a:ext cx="182880" cy="0"/>
          </a:xfrm>
          <a:prstGeom prst="line">
            <a:avLst/>
          </a:prstGeom>
          <a:ln w="222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321040" y="21031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12121"/>
                </a:solidFill>
              </a:rPr>
              <a:t>mount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8521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12121"/>
                </a:solidFill>
              </a:rPr>
              <a:t>Figure 4: CSI-based dynamic volume provisioning and pod mount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212121"/>
                </a:solidFill>
              </a:rPr>
              <a:t>Learning Service Architecture | October 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212121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12121"/>
                </a:solidFill>
              </a:defRPr>
            </a:pPr>
            <a:r>
              <a:t>Security &amp; Isolation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2560320" cy="1005840"/>
          </a:xfrm>
          <a:prstGeom prst="roundRect">
            <a:avLst/>
          </a:prstGeom>
          <a:solidFill>
            <a:srgbClr val="E67E22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Service Mesh
(mTLS • Policy)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0" y="1828800"/>
            <a:ext cx="2926080" cy="1005840"/>
          </a:xfrm>
          <a:prstGeom prst="roundRect">
            <a:avLst/>
          </a:prstGeom>
          <a:solidFill>
            <a:srgbClr val="26A6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User Namespace
(default-deny egress)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1828800"/>
            <a:ext cx="2560320" cy="1005840"/>
          </a:xfrm>
          <a:prstGeom prst="roundRect">
            <a:avLst/>
          </a:prstGeom>
          <a:solidFill>
            <a:srgbClr val="E67E22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Allowed Egress
(Auth • Registry • Metrics)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474720" y="2331720"/>
            <a:ext cx="365760" cy="0"/>
          </a:xfrm>
          <a:prstGeom prst="line">
            <a:avLst/>
          </a:prstGeom>
          <a:ln w="222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108960" y="21488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12121"/>
                </a:solidFill>
              </a:rPr>
              <a:t>isolate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766560" y="2331720"/>
            <a:ext cx="365760" cy="0"/>
          </a:xfrm>
          <a:prstGeom prst="line">
            <a:avLst/>
          </a:prstGeom>
          <a:ln w="222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0" y="21488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12121"/>
                </a:solidFill>
              </a:rPr>
              <a:t>whitelist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521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12121"/>
                </a:solidFill>
              </a:rPr>
              <a:t>Figure 5: mTLS, namespace isolation, and restricted egress with whitelisted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212121"/>
                </a:solidFill>
              </a:rPr>
              <a:t>Learning Service Architecture | October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212121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12121"/>
                </a:solidFill>
              </a:defRPr>
            </a:pPr>
            <a:r>
              <a:t>Slurm 2.0 Integration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2743200" cy="914400"/>
          </a:xfrm>
          <a:prstGeom prst="roundRect">
            <a:avLst/>
          </a:prstGeom>
          <a:solidFill>
            <a:srgbClr val="2D71B2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Control Plane
(API Training • Orchestration)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23360" y="1828800"/>
            <a:ext cx="2743200" cy="914400"/>
          </a:xfrm>
          <a:prstGeom prst="roundRect">
            <a:avLst/>
          </a:prstGeom>
          <a:solidFill>
            <a:srgbClr val="26A6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Slurm Cluster
(BM + VM Nodes)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1828800"/>
            <a:ext cx="2743200" cy="914400"/>
          </a:xfrm>
          <a:prstGeom prst="roundRect">
            <a:avLst/>
          </a:prstGeom>
          <a:solidFill>
            <a:srgbClr val="E67E22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Monitoring
(Prometheus-like)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0" y="2286000"/>
            <a:ext cx="365760" cy="0"/>
          </a:xfrm>
          <a:prstGeom prst="line">
            <a:avLst/>
          </a:prstGeom>
          <a:ln w="222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291840" y="21031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12121"/>
                </a:solidFill>
              </a:rPr>
              <a:t>submit/dispatch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766560" y="2286000"/>
            <a:ext cx="365760" cy="0"/>
          </a:xfrm>
          <a:prstGeom prst="line">
            <a:avLst/>
          </a:prstGeom>
          <a:ln w="222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0" y="21031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12121"/>
                </a:solidFill>
              </a:rPr>
              <a:t>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521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12121"/>
                </a:solidFill>
              </a:rPr>
              <a:t>Figure 6: Unified AI/HPC scheduling via Slurm and centralized monitoring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212121"/>
                </a:solidFill>
              </a:rPr>
              <a:t>Learning Service Architecture | October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212121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12121"/>
                </a:solidFill>
              </a:defRPr>
            </a:pPr>
            <a:r>
              <a:t>Learning Launch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2011680" cy="914400"/>
          </a:xfrm>
          <a:prstGeom prst="roundRect">
            <a:avLst/>
          </a:prstGeom>
          <a:solidFill>
            <a:srgbClr val="26A6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User Console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08960" y="1828800"/>
            <a:ext cx="2194560" cy="914400"/>
          </a:xfrm>
          <a:prstGeom prst="roundRect">
            <a:avLst/>
          </a:prstGeom>
          <a:solidFill>
            <a:srgbClr val="2D71B2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Learning Service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1828800"/>
            <a:ext cx="2011680" cy="914400"/>
          </a:xfrm>
          <a:prstGeom prst="roundRect">
            <a:avLst/>
          </a:prstGeom>
          <a:solidFill>
            <a:srgbClr val="2D71B2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Auth Service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828800"/>
            <a:ext cx="2194560" cy="914400"/>
          </a:xfrm>
          <a:prstGeom prst="roundRect">
            <a:avLst/>
          </a:prstGeom>
          <a:solidFill>
            <a:srgbClr val="26A6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Notebook Session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0" y="2286000"/>
            <a:ext cx="365760" cy="0"/>
          </a:xfrm>
          <a:prstGeom prst="line">
            <a:avLst/>
          </a:prstGeom>
          <a:ln w="222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377440" y="21031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12121"/>
                </a:solidFill>
              </a:rPr>
              <a:t>launch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303520" y="2286000"/>
            <a:ext cx="365760" cy="0"/>
          </a:xfrm>
          <a:prstGeom prst="line">
            <a:avLst/>
          </a:prstGeom>
          <a:ln w="222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937760" y="21031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12121"/>
                </a:solidFill>
              </a:rPr>
              <a:t>authenticate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680960" y="2286000"/>
            <a:ext cx="365760" cy="0"/>
          </a:xfrm>
          <a:prstGeom prst="line">
            <a:avLst/>
          </a:prstGeom>
          <a:ln w="222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0" y="21031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12121"/>
                </a:solidFill>
              </a:rPr>
              <a:t>redirect/session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521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12121"/>
                </a:solidFill>
              </a:rPr>
              <a:t>Figure 7: End-to-end launch sequence from console to authenticated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212121"/>
                </a:solidFill>
              </a:rPr>
              <a:t>Learning Service Architecture | October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212121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12121"/>
                </a:solidFill>
              </a:defRPr>
            </a:pPr>
            <a:r>
              <a:t>Toolkit Image Management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2560320" cy="914400"/>
          </a:xfrm>
          <a:prstGeom prst="roundRect">
            <a:avLst/>
          </a:prstGeom>
          <a:solidFill>
            <a:srgbClr val="6E777D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Image Registry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1097280"/>
            <a:ext cx="2194560" cy="731520"/>
          </a:xfrm>
          <a:prstGeom prst="roundRect">
            <a:avLst/>
          </a:prstGeom>
          <a:solidFill>
            <a:srgbClr val="2D71B2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AI Toolkit Images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2011680"/>
            <a:ext cx="2194560" cy="731520"/>
          </a:xfrm>
          <a:prstGeom prst="roundRect">
            <a:avLst/>
          </a:prstGeom>
          <a:solidFill>
            <a:srgbClr val="2D71B2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HPC/SYCL Images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2926080"/>
            <a:ext cx="2194560" cy="731520"/>
          </a:xfrm>
          <a:prstGeom prst="roundRect">
            <a:avLst/>
          </a:prstGeom>
          <a:solidFill>
            <a:srgbClr val="2D71B2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Rendering Images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2926080" cy="914400"/>
          </a:xfrm>
          <a:prstGeom prst="roundRect">
            <a:avLst/>
          </a:prstGeom>
          <a:solidFill>
            <a:srgbClr val="26A65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Worker Nodes
(Pre-pull • Cache)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474720" y="1463040"/>
            <a:ext cx="182880" cy="0"/>
          </a:xfrm>
          <a:prstGeom prst="line">
            <a:avLst/>
          </a:prstGeom>
          <a:ln w="222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017520" y="12801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12121"/>
                </a:solidFill>
              </a:rPr>
              <a:t>catalog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474720" y="2377440"/>
            <a:ext cx="182880" cy="0"/>
          </a:xfrm>
          <a:prstGeom prst="line">
            <a:avLst/>
          </a:prstGeom>
          <a:ln w="222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017520" y="21945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12121"/>
                </a:solidFill>
              </a:rPr>
              <a:t>catalog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74720" y="3291840"/>
            <a:ext cx="182880" cy="0"/>
          </a:xfrm>
          <a:prstGeom prst="line">
            <a:avLst/>
          </a:prstGeom>
          <a:ln w="222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017520" y="3108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12121"/>
                </a:solidFill>
              </a:rPr>
              <a:t>catalog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52160" y="2377440"/>
            <a:ext cx="548640" cy="0"/>
          </a:xfrm>
          <a:prstGeom prst="line">
            <a:avLst/>
          </a:prstGeom>
          <a:ln w="222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577840" y="21945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12121"/>
                </a:solidFill>
              </a:rPr>
              <a:t>pull/cache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8521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12121"/>
                </a:solidFill>
              </a:rPr>
              <a:t>Figure 8: Containerized toolkits and pre-pull to worker nodes for 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212121"/>
                </a:solidFill>
              </a:rPr>
              <a:t>Learning Service Architecture | October 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212121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12121"/>
                </a:solidFill>
              </a:defRPr>
            </a:pPr>
            <a:r>
              <a:t>Architecture Insights &amp;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• Scalable multi-tenant design across control and data planes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Secure-by-default service mesh with namespace isolation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Automated session and storage lifecycle via API and CSI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Consistent, modular toolchains delivered via container images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Unified monitoring and straightforward ops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212121"/>
                </a:solidFill>
              </a:rPr>
              <a:t>Learning Service Architecture | October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212121"/>
                </a:solidFill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